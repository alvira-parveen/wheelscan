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F2E"/>
        </a:solidFill>
        <a:effectLst/>
      </p:bgPr>
    </p:bg>
    <p:spTree>
      <p:nvGrpSpPr>
        <p:cNvPr id="1" name=""/>
        <p:cNvGrpSpPr/>
        <p:nvPr/>
      </p:nvGrpSpPr>
      <p:grpSpPr/>
      <p:sp>
        <p:nvSpPr>
          <p:cNvPr id="2" name="Rounded Rectangle 1"/>
          <p:cNvSpPr/>
          <p:nvPr/>
        </p:nvSpPr>
        <p:spPr>
          <a:xfrm>
            <a:off x="8229600" y="-1371600"/>
            <a:ext cx="5486400" cy="548640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0" y="3657600"/>
            <a:ext cx="4572000" cy="457200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6858000"/>
          </a:xfrm>
          <a:prstGeom prst="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7280" y="1371600"/>
            <a:ext cx="1188720" cy="1188720"/>
          </a:xfrm>
          <a:prstGeom prst="round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9848" y="1417320"/>
            <a:ext cx="1234440" cy="1097280"/>
          </a:xfrm>
          <a:prstGeom prst="rect">
            <a:avLst/>
          </a:prstGeom>
          <a:noFill/>
        </p:spPr>
        <p:txBody>
          <a:bodyPr wrap="square">
            <a:spAutoFit/>
          </a:bodyPr>
          <a:lstStyle/>
          <a:p>
            <a:pPr algn="ctr">
              <a:defRPr sz="4800" b="1">
                <a:solidFill>
                  <a:srgbClr val="FFFFFF"/>
                </a:solidFill>
                <a:latin typeface="Calibri"/>
              </a:defRPr>
            </a:pPr>
            <a:r>
              <a:t>W</a:t>
            </a:r>
          </a:p>
        </p:txBody>
      </p:sp>
      <p:sp>
        <p:nvSpPr>
          <p:cNvPr id="7" name="TextBox 6"/>
          <p:cNvSpPr txBox="1"/>
          <p:nvPr/>
        </p:nvSpPr>
        <p:spPr>
          <a:xfrm>
            <a:off x="1097280" y="2926080"/>
            <a:ext cx="7315200" cy="914400"/>
          </a:xfrm>
          <a:prstGeom prst="rect">
            <a:avLst/>
          </a:prstGeom>
          <a:noFill/>
        </p:spPr>
        <p:txBody>
          <a:bodyPr wrap="square">
            <a:spAutoFit/>
          </a:bodyPr>
          <a:lstStyle/>
          <a:p>
            <a:pPr algn="l">
              <a:defRPr sz="5400" b="1">
                <a:solidFill>
                  <a:srgbClr val="FFFFFF"/>
                </a:solidFill>
                <a:latin typeface="Calibri"/>
              </a:defRPr>
            </a:pPr>
            <a:r>
              <a:t>WheelScan</a:t>
            </a:r>
          </a:p>
        </p:txBody>
      </p:sp>
      <p:sp>
        <p:nvSpPr>
          <p:cNvPr id="8" name="TextBox 7"/>
          <p:cNvSpPr txBox="1"/>
          <p:nvPr/>
        </p:nvSpPr>
        <p:spPr>
          <a:xfrm>
            <a:off x="1097280" y="3794760"/>
            <a:ext cx="8229600" cy="548640"/>
          </a:xfrm>
          <a:prstGeom prst="rect">
            <a:avLst/>
          </a:prstGeom>
          <a:noFill/>
        </p:spPr>
        <p:txBody>
          <a:bodyPr wrap="square">
            <a:spAutoFit/>
          </a:bodyPr>
          <a:lstStyle/>
          <a:p>
            <a:pPr algn="l">
              <a:defRPr sz="2400" b="0">
                <a:solidFill>
                  <a:srgbClr val="94A3B8"/>
                </a:solidFill>
                <a:latin typeface="Calibri"/>
              </a:defRPr>
            </a:pPr>
            <a:r>
              <a:t>AI-Powered Accessibility Auditor for Public Spaces</a:t>
            </a:r>
          </a:p>
        </p:txBody>
      </p:sp>
      <p:sp>
        <p:nvSpPr>
          <p:cNvPr id="9" name="TextBox 8"/>
          <p:cNvSpPr txBox="1"/>
          <p:nvPr/>
        </p:nvSpPr>
        <p:spPr>
          <a:xfrm>
            <a:off x="1097280" y="4663440"/>
            <a:ext cx="7315200" cy="365760"/>
          </a:xfrm>
          <a:prstGeom prst="rect">
            <a:avLst/>
          </a:prstGeom>
          <a:noFill/>
        </p:spPr>
        <p:txBody>
          <a:bodyPr wrap="square">
            <a:spAutoFit/>
          </a:bodyPr>
          <a:lstStyle/>
          <a:p>
            <a:pPr algn="l">
              <a:defRPr sz="1500" b="0">
                <a:solidFill>
                  <a:srgbClr val="94A3B8"/>
                </a:solidFill>
                <a:latin typeface="Calibri"/>
              </a:defRPr>
            </a:pPr>
            <a:r>
              <a:t>Flutter for Android Application Development</a:t>
            </a:r>
          </a:p>
        </p:txBody>
      </p:sp>
      <p:sp>
        <p:nvSpPr>
          <p:cNvPr id="10" name="TextBox 9"/>
          <p:cNvSpPr txBox="1"/>
          <p:nvPr/>
        </p:nvSpPr>
        <p:spPr>
          <a:xfrm>
            <a:off x="1097280" y="5029200"/>
            <a:ext cx="7315200" cy="365760"/>
          </a:xfrm>
          <a:prstGeom prst="rect">
            <a:avLst/>
          </a:prstGeom>
          <a:noFill/>
        </p:spPr>
        <p:txBody>
          <a:bodyPr wrap="square">
            <a:spAutoFit/>
          </a:bodyPr>
          <a:lstStyle/>
          <a:p>
            <a:pPr algn="l">
              <a:defRPr sz="1500" b="0">
                <a:solidFill>
                  <a:srgbClr val="94A3B8"/>
                </a:solidFill>
                <a:latin typeface="Calibri"/>
              </a:defRPr>
            </a:pPr>
            <a:r>
              <a:t>Semester End Evaluation Project</a:t>
            </a:r>
          </a:p>
        </p:txBody>
      </p:sp>
      <p:sp>
        <p:nvSpPr>
          <p:cNvPr id="11" name="Rectangle 10"/>
          <p:cNvSpPr/>
          <p:nvPr/>
        </p:nvSpPr>
        <p:spPr>
          <a:xfrm>
            <a:off x="0" y="5852160"/>
            <a:ext cx="12191695" cy="1005840"/>
          </a:xfrm>
          <a:prstGeom prst="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6035040"/>
            <a:ext cx="4572000" cy="365760"/>
          </a:xfrm>
          <a:prstGeom prst="rect">
            <a:avLst/>
          </a:prstGeom>
          <a:noFill/>
        </p:spPr>
        <p:txBody>
          <a:bodyPr wrap="square">
            <a:spAutoFit/>
          </a:bodyPr>
          <a:lstStyle/>
          <a:p>
            <a:pPr algn="l">
              <a:defRPr sz="1400" b="1">
                <a:solidFill>
                  <a:srgbClr val="00D261"/>
                </a:solidFill>
                <a:latin typeface="Calibri"/>
              </a:defRPr>
            </a:pPr>
            <a:r>
              <a:t>Team: Alvira Parveen &amp; Team Members</a:t>
            </a:r>
          </a:p>
        </p:txBody>
      </p:sp>
      <p:sp>
        <p:nvSpPr>
          <p:cNvPr id="13" name="TextBox 12"/>
          <p:cNvSpPr txBox="1"/>
          <p:nvPr/>
        </p:nvSpPr>
        <p:spPr>
          <a:xfrm>
            <a:off x="6400800" y="6035040"/>
            <a:ext cx="5029200" cy="365760"/>
          </a:xfrm>
          <a:prstGeom prst="rect">
            <a:avLst/>
          </a:prstGeom>
          <a:noFill/>
        </p:spPr>
        <p:txBody>
          <a:bodyPr wrap="square">
            <a:spAutoFit/>
          </a:bodyPr>
          <a:lstStyle/>
          <a:p>
            <a:pPr algn="r">
              <a:defRPr sz="1200" b="0">
                <a:solidFill>
                  <a:srgbClr val="94A3B8"/>
                </a:solidFill>
                <a:latin typeface="Calibri"/>
              </a:defRPr>
            </a:pPr>
            <a:r>
              <a:t>B.Tech CSE (AI/ML) | 4th Sem | Sharda University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640080"/>
          </a:xfrm>
          <a:prstGeom prst="rect">
            <a:avLst/>
          </a:prstGeom>
          <a:noFill/>
        </p:spPr>
        <p:txBody>
          <a:bodyPr wrap="square">
            <a:spAutoFit/>
          </a:bodyPr>
          <a:lstStyle/>
          <a:p>
            <a:pPr algn="l">
              <a:defRPr sz="3600" b="1">
                <a:solidFill>
                  <a:srgbClr val="0F172A"/>
                </a:solidFill>
                <a:latin typeface="Calibri"/>
              </a:defRPr>
            </a:pPr>
            <a:r>
              <a:t>The Problem We Are Solving</a:t>
            </a:r>
          </a:p>
        </p:txBody>
      </p:sp>
      <p:sp>
        <p:nvSpPr>
          <p:cNvPr id="4" name="TextBox 3"/>
          <p:cNvSpPr txBox="1"/>
          <p:nvPr/>
        </p:nvSpPr>
        <p:spPr>
          <a:xfrm>
            <a:off x="731520" y="914400"/>
            <a:ext cx="9144000" cy="457200"/>
          </a:xfrm>
          <a:prstGeom prst="rect">
            <a:avLst/>
          </a:prstGeom>
          <a:noFill/>
        </p:spPr>
        <p:txBody>
          <a:bodyPr wrap="square">
            <a:spAutoFit/>
          </a:bodyPr>
          <a:lstStyle/>
          <a:p>
            <a:pPr algn="l">
              <a:defRPr sz="1500" b="0">
                <a:solidFill>
                  <a:srgbClr val="64748B"/>
                </a:solidFill>
                <a:latin typeface="Calibri"/>
              </a:defRPr>
            </a:pPr>
            <a:r>
              <a:t>Understanding why WheelScan is needed in today's world</a:t>
            </a:r>
          </a:p>
        </p:txBody>
      </p:sp>
      <p:sp>
        <p:nvSpPr>
          <p:cNvPr id="5" name="Rounded Rectangle 4"/>
          <p:cNvSpPr/>
          <p:nvPr/>
        </p:nvSpPr>
        <p:spPr>
          <a:xfrm>
            <a:off x="731520" y="1554480"/>
            <a:ext cx="5486400" cy="4846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737360"/>
            <a:ext cx="4754880" cy="457200"/>
          </a:xfrm>
          <a:prstGeom prst="rect">
            <a:avLst/>
          </a:prstGeom>
          <a:noFill/>
        </p:spPr>
        <p:txBody>
          <a:bodyPr wrap="square">
            <a:spAutoFit/>
          </a:bodyPr>
          <a:lstStyle/>
          <a:p>
            <a:pPr algn="l">
              <a:defRPr sz="1800" b="1">
                <a:solidFill>
                  <a:srgbClr val="0F172A"/>
                </a:solidFill>
                <a:latin typeface="Calibri"/>
              </a:defRPr>
            </a:pPr>
            <a:r>
              <a:t>The Accessibility Crisis</a:t>
            </a:r>
          </a:p>
        </p:txBody>
      </p:sp>
      <p:sp>
        <p:nvSpPr>
          <p:cNvPr id="7" name="TextBox 6"/>
          <p:cNvSpPr txBox="1"/>
          <p:nvPr/>
        </p:nvSpPr>
        <p:spPr>
          <a:xfrm>
            <a:off x="1280160" y="2286000"/>
            <a:ext cx="4572000" cy="502920"/>
          </a:xfrm>
          <a:prstGeom prst="rect">
            <a:avLst/>
          </a:prstGeom>
          <a:noFill/>
        </p:spPr>
        <p:txBody>
          <a:bodyPr wrap="square">
            <a:spAutoFit/>
          </a:bodyPr>
          <a:lstStyle/>
          <a:p>
            <a:pPr algn="l">
              <a:defRPr sz="1000" b="0">
                <a:solidFill>
                  <a:srgbClr val="64748B"/>
                </a:solidFill>
                <a:latin typeface="Calibri"/>
              </a:defRPr>
            </a:pPr>
            <a:r>
              <a:t>*  According to WHO, over 1 billion people (15% of the world's population) live with some form of disability. Many of them use wheelchairs.</a:t>
            </a:r>
          </a:p>
        </p:txBody>
      </p:sp>
      <p:sp>
        <p:nvSpPr>
          <p:cNvPr id="8" name="TextBox 7"/>
          <p:cNvSpPr txBox="1"/>
          <p:nvPr/>
        </p:nvSpPr>
        <p:spPr>
          <a:xfrm>
            <a:off x="1280160" y="2926080"/>
            <a:ext cx="4572000" cy="502920"/>
          </a:xfrm>
          <a:prstGeom prst="rect">
            <a:avLst/>
          </a:prstGeom>
          <a:noFill/>
        </p:spPr>
        <p:txBody>
          <a:bodyPr wrap="square">
            <a:spAutoFit/>
          </a:bodyPr>
          <a:lstStyle/>
          <a:p>
            <a:pPr algn="l">
              <a:defRPr sz="1000" b="0">
                <a:solidFill>
                  <a:srgbClr val="64748B"/>
                </a:solidFill>
                <a:latin typeface="Calibri"/>
              </a:defRPr>
            </a:pPr>
            <a:r>
              <a:t>*  In India alone, over 2.68 crore people have physical disabilities (Census 2011). Most public buildings, roads, and spaces are not designed for them.</a:t>
            </a:r>
          </a:p>
        </p:txBody>
      </p:sp>
      <p:sp>
        <p:nvSpPr>
          <p:cNvPr id="9" name="TextBox 8"/>
          <p:cNvSpPr txBox="1"/>
          <p:nvPr/>
        </p:nvSpPr>
        <p:spPr>
          <a:xfrm>
            <a:off x="1280160" y="3566160"/>
            <a:ext cx="4572000" cy="502920"/>
          </a:xfrm>
          <a:prstGeom prst="rect">
            <a:avLst/>
          </a:prstGeom>
          <a:noFill/>
        </p:spPr>
        <p:txBody>
          <a:bodyPr wrap="square">
            <a:spAutoFit/>
          </a:bodyPr>
          <a:lstStyle/>
          <a:p>
            <a:pPr algn="l">
              <a:defRPr sz="1000" b="0">
                <a:solidFill>
                  <a:srgbClr val="64748B"/>
                </a:solidFill>
                <a:latin typeface="Calibri"/>
              </a:defRPr>
            </a:pPr>
            <a:r>
              <a:t>*  There is no simple tool available for a common person to check whether a ramp is too steep, a door is too narrow, or a parking spot meets accessibility standards.</a:t>
            </a:r>
          </a:p>
        </p:txBody>
      </p:sp>
      <p:sp>
        <p:nvSpPr>
          <p:cNvPr id="10" name="TextBox 9"/>
          <p:cNvSpPr txBox="1"/>
          <p:nvPr/>
        </p:nvSpPr>
        <p:spPr>
          <a:xfrm>
            <a:off x="1280160" y="4206240"/>
            <a:ext cx="4572000" cy="502920"/>
          </a:xfrm>
          <a:prstGeom prst="rect">
            <a:avLst/>
          </a:prstGeom>
          <a:noFill/>
        </p:spPr>
        <p:txBody>
          <a:bodyPr wrap="square">
            <a:spAutoFit/>
          </a:bodyPr>
          <a:lstStyle/>
          <a:p>
            <a:pPr algn="l">
              <a:defRPr sz="1000" b="0">
                <a:solidFill>
                  <a:srgbClr val="64748B"/>
                </a:solidFill>
                <a:latin typeface="Calibri"/>
              </a:defRPr>
            </a:pPr>
            <a:r>
              <a:t>*  Wheelchair users often arrive at a location only to find out it is not accessible. This wastes their time, energy, and causes frustration.</a:t>
            </a:r>
          </a:p>
        </p:txBody>
      </p:sp>
      <p:sp>
        <p:nvSpPr>
          <p:cNvPr id="11" name="TextBox 10"/>
          <p:cNvSpPr txBox="1"/>
          <p:nvPr/>
        </p:nvSpPr>
        <p:spPr>
          <a:xfrm>
            <a:off x="1280160" y="4846320"/>
            <a:ext cx="4572000" cy="502920"/>
          </a:xfrm>
          <a:prstGeom prst="rect">
            <a:avLst/>
          </a:prstGeom>
          <a:noFill/>
        </p:spPr>
        <p:txBody>
          <a:bodyPr wrap="square">
            <a:spAutoFit/>
          </a:bodyPr>
          <a:lstStyle/>
          <a:p>
            <a:pPr algn="l">
              <a:defRPr sz="1000" b="0">
                <a:solidFill>
                  <a:srgbClr val="64748B"/>
                </a:solidFill>
                <a:latin typeface="Calibri"/>
              </a:defRPr>
            </a:pPr>
            <a:r>
              <a:t>*  Government accessibility guidelines exist (like RPWD Act 2016), but there is no easy way to check if places follow these rules.</a:t>
            </a:r>
          </a:p>
        </p:txBody>
      </p:sp>
      <p:sp>
        <p:nvSpPr>
          <p:cNvPr id="12" name="TextBox 11"/>
          <p:cNvSpPr txBox="1"/>
          <p:nvPr/>
        </p:nvSpPr>
        <p:spPr>
          <a:xfrm>
            <a:off x="1280160" y="5486400"/>
            <a:ext cx="4572000" cy="502920"/>
          </a:xfrm>
          <a:prstGeom prst="rect">
            <a:avLst/>
          </a:prstGeom>
          <a:noFill/>
        </p:spPr>
        <p:txBody>
          <a:bodyPr wrap="square">
            <a:spAutoFit/>
          </a:bodyPr>
          <a:lstStyle/>
          <a:p>
            <a:pPr algn="l">
              <a:defRPr sz="1000" b="0">
                <a:solidFill>
                  <a:srgbClr val="64748B"/>
                </a:solidFill>
                <a:latin typeface="Calibri"/>
              </a:defRPr>
            </a:pPr>
            <a:r>
              <a:t>*  Currently, accessibility audits are done manually by professionals. This is expensive and slow. Most places never get audited at all.</a:t>
            </a:r>
          </a:p>
        </p:txBody>
      </p:sp>
      <p:sp>
        <p:nvSpPr>
          <p:cNvPr id="13" name="Rounded Rectangle 12"/>
          <p:cNvSpPr/>
          <p:nvPr/>
        </p:nvSpPr>
        <p:spPr>
          <a:xfrm>
            <a:off x="6583680" y="1554480"/>
            <a:ext cx="4846320" cy="1371600"/>
          </a:xfrm>
          <a:prstGeom prst="round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0" y="1691640"/>
            <a:ext cx="4114800" cy="548640"/>
          </a:xfrm>
          <a:prstGeom prst="rect">
            <a:avLst/>
          </a:prstGeom>
          <a:noFill/>
        </p:spPr>
        <p:txBody>
          <a:bodyPr wrap="square">
            <a:spAutoFit/>
          </a:bodyPr>
          <a:lstStyle/>
          <a:p>
            <a:pPr algn="l">
              <a:defRPr sz="3200" b="1">
                <a:solidFill>
                  <a:srgbClr val="00D261"/>
                </a:solidFill>
                <a:latin typeface="Calibri"/>
              </a:defRPr>
            </a:pPr>
            <a:r>
              <a:t>1.3 Billion+</a:t>
            </a:r>
          </a:p>
        </p:txBody>
      </p:sp>
      <p:sp>
        <p:nvSpPr>
          <p:cNvPr id="15" name="TextBox 14"/>
          <p:cNvSpPr txBox="1"/>
          <p:nvPr/>
        </p:nvSpPr>
        <p:spPr>
          <a:xfrm>
            <a:off x="6949440" y="2148840"/>
            <a:ext cx="4114800" cy="457200"/>
          </a:xfrm>
          <a:prstGeom prst="rect">
            <a:avLst/>
          </a:prstGeom>
          <a:noFill/>
        </p:spPr>
        <p:txBody>
          <a:bodyPr wrap="square">
            <a:spAutoFit/>
          </a:bodyPr>
          <a:lstStyle/>
          <a:p>
            <a:pPr algn="l">
              <a:defRPr sz="1200" b="0">
                <a:solidFill>
                  <a:srgbClr val="94A3B8"/>
                </a:solidFill>
                <a:latin typeface="Calibri"/>
              </a:defRPr>
            </a:pPr>
            <a:r>
              <a:t>people with disabilities worldwide (WHO, 2023)</a:t>
            </a:r>
          </a:p>
        </p:txBody>
      </p:sp>
      <p:sp>
        <p:nvSpPr>
          <p:cNvPr id="16" name="Rounded Rectangle 15"/>
          <p:cNvSpPr/>
          <p:nvPr/>
        </p:nvSpPr>
        <p:spPr>
          <a:xfrm>
            <a:off x="6583680" y="3200400"/>
            <a:ext cx="4846320" cy="1371600"/>
          </a:xfrm>
          <a:prstGeom prst="round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0" y="3337560"/>
            <a:ext cx="4114800" cy="548640"/>
          </a:xfrm>
          <a:prstGeom prst="rect">
            <a:avLst/>
          </a:prstGeom>
          <a:noFill/>
        </p:spPr>
        <p:txBody>
          <a:bodyPr wrap="square">
            <a:spAutoFit/>
          </a:bodyPr>
          <a:lstStyle/>
          <a:p>
            <a:pPr algn="l">
              <a:defRPr sz="3200" b="1">
                <a:solidFill>
                  <a:srgbClr val="FFB020"/>
                </a:solidFill>
                <a:latin typeface="Calibri"/>
              </a:defRPr>
            </a:pPr>
            <a:r>
              <a:t>2.68 Crore</a:t>
            </a:r>
          </a:p>
        </p:txBody>
      </p:sp>
      <p:sp>
        <p:nvSpPr>
          <p:cNvPr id="18" name="TextBox 17"/>
          <p:cNvSpPr txBox="1"/>
          <p:nvPr/>
        </p:nvSpPr>
        <p:spPr>
          <a:xfrm>
            <a:off x="6949440" y="3794760"/>
            <a:ext cx="4114800" cy="457200"/>
          </a:xfrm>
          <a:prstGeom prst="rect">
            <a:avLst/>
          </a:prstGeom>
          <a:noFill/>
        </p:spPr>
        <p:txBody>
          <a:bodyPr wrap="square">
            <a:spAutoFit/>
          </a:bodyPr>
          <a:lstStyle/>
          <a:p>
            <a:pPr algn="l">
              <a:defRPr sz="1200" b="0">
                <a:solidFill>
                  <a:srgbClr val="94A3B8"/>
                </a:solidFill>
                <a:latin typeface="Calibri"/>
              </a:defRPr>
            </a:pPr>
            <a:r>
              <a:t>physically disabled people in India (Census)</a:t>
            </a:r>
          </a:p>
        </p:txBody>
      </p:sp>
      <p:sp>
        <p:nvSpPr>
          <p:cNvPr id="19" name="Rounded Rectangle 18"/>
          <p:cNvSpPr/>
          <p:nvPr/>
        </p:nvSpPr>
        <p:spPr>
          <a:xfrm>
            <a:off x="6583680" y="4846320"/>
            <a:ext cx="2286000" cy="1554480"/>
          </a:xfrm>
          <a:prstGeom prst="round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0" y="5029200"/>
            <a:ext cx="1828800" cy="457200"/>
          </a:xfrm>
          <a:prstGeom prst="rect">
            <a:avLst/>
          </a:prstGeom>
          <a:noFill/>
        </p:spPr>
        <p:txBody>
          <a:bodyPr wrap="square">
            <a:spAutoFit/>
          </a:bodyPr>
          <a:lstStyle/>
          <a:p>
            <a:pPr algn="l">
              <a:defRPr sz="3000" b="1">
                <a:solidFill>
                  <a:srgbClr val="EF4444"/>
                </a:solidFill>
                <a:latin typeface="Calibri"/>
              </a:defRPr>
            </a:pPr>
            <a:r>
              <a:t>75%</a:t>
            </a:r>
          </a:p>
        </p:txBody>
      </p:sp>
      <p:sp>
        <p:nvSpPr>
          <p:cNvPr id="21" name="TextBox 20"/>
          <p:cNvSpPr txBox="1"/>
          <p:nvPr/>
        </p:nvSpPr>
        <p:spPr>
          <a:xfrm>
            <a:off x="6858000" y="5486400"/>
            <a:ext cx="1828800" cy="548640"/>
          </a:xfrm>
          <a:prstGeom prst="rect">
            <a:avLst/>
          </a:prstGeom>
          <a:noFill/>
        </p:spPr>
        <p:txBody>
          <a:bodyPr wrap="square">
            <a:spAutoFit/>
          </a:bodyPr>
          <a:lstStyle/>
          <a:p>
            <a:pPr algn="l">
              <a:defRPr sz="1000" b="0">
                <a:solidFill>
                  <a:srgbClr val="94A3B8"/>
                </a:solidFill>
                <a:latin typeface="Calibri"/>
              </a:defRPr>
            </a:pPr>
            <a:r>
              <a:t>of public places in India lack basic wheelchair accessibility</a:t>
            </a:r>
          </a:p>
        </p:txBody>
      </p:sp>
      <p:sp>
        <p:nvSpPr>
          <p:cNvPr id="22" name="Rounded Rectangle 21"/>
          <p:cNvSpPr/>
          <p:nvPr/>
        </p:nvSpPr>
        <p:spPr>
          <a:xfrm>
            <a:off x="9144000" y="4846320"/>
            <a:ext cx="2286000" cy="1554480"/>
          </a:xfrm>
          <a:prstGeom prst="roundRect">
            <a:avLst/>
          </a:prstGeom>
          <a:solidFill>
            <a:srgbClr val="1A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18320" y="5029200"/>
            <a:ext cx="1828800" cy="457200"/>
          </a:xfrm>
          <a:prstGeom prst="rect">
            <a:avLst/>
          </a:prstGeom>
          <a:noFill/>
        </p:spPr>
        <p:txBody>
          <a:bodyPr wrap="square">
            <a:spAutoFit/>
          </a:bodyPr>
          <a:lstStyle/>
          <a:p>
            <a:pPr algn="l">
              <a:defRPr sz="3000" b="1">
                <a:solidFill>
                  <a:srgbClr val="FFB020"/>
                </a:solidFill>
                <a:latin typeface="Calibri"/>
              </a:defRPr>
            </a:pPr>
            <a:r>
              <a:t>0</a:t>
            </a:r>
          </a:p>
        </p:txBody>
      </p:sp>
      <p:sp>
        <p:nvSpPr>
          <p:cNvPr id="24" name="TextBox 23"/>
          <p:cNvSpPr txBox="1"/>
          <p:nvPr/>
        </p:nvSpPr>
        <p:spPr>
          <a:xfrm>
            <a:off x="9418320" y="5486400"/>
            <a:ext cx="1828800" cy="548640"/>
          </a:xfrm>
          <a:prstGeom prst="rect">
            <a:avLst/>
          </a:prstGeom>
          <a:noFill/>
        </p:spPr>
        <p:txBody>
          <a:bodyPr wrap="square">
            <a:spAutoFit/>
          </a:bodyPr>
          <a:lstStyle/>
          <a:p>
            <a:pPr algn="l">
              <a:defRPr sz="1000" b="0">
                <a:solidFill>
                  <a:srgbClr val="94A3B8"/>
                </a:solidFill>
                <a:latin typeface="Calibri"/>
              </a:defRPr>
            </a:pPr>
            <a:r>
              <a:t>mobile apps that scan a space and give instant accessibility score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F2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640080"/>
          </a:xfrm>
          <a:prstGeom prst="rect">
            <a:avLst/>
          </a:prstGeom>
          <a:noFill/>
        </p:spPr>
        <p:txBody>
          <a:bodyPr wrap="square">
            <a:spAutoFit/>
          </a:bodyPr>
          <a:lstStyle/>
          <a:p>
            <a:pPr algn="l">
              <a:defRPr sz="3600" b="1">
                <a:solidFill>
                  <a:srgbClr val="FFFFFF"/>
                </a:solidFill>
                <a:latin typeface="Calibri"/>
              </a:defRPr>
            </a:pPr>
            <a:r>
              <a:t>Our Solution: WheelScan</a:t>
            </a:r>
          </a:p>
        </p:txBody>
      </p:sp>
      <p:sp>
        <p:nvSpPr>
          <p:cNvPr id="4" name="TextBox 3"/>
          <p:cNvSpPr txBox="1"/>
          <p:nvPr/>
        </p:nvSpPr>
        <p:spPr>
          <a:xfrm>
            <a:off x="731520" y="914400"/>
            <a:ext cx="9144000" cy="548640"/>
          </a:xfrm>
          <a:prstGeom prst="rect">
            <a:avLst/>
          </a:prstGeom>
          <a:noFill/>
        </p:spPr>
        <p:txBody>
          <a:bodyPr wrap="square">
            <a:spAutoFit/>
          </a:bodyPr>
          <a:lstStyle/>
          <a:p>
            <a:pPr algn="l">
              <a:defRPr sz="1500" b="0">
                <a:solidFill>
                  <a:srgbClr val="94A3B8"/>
                </a:solidFill>
                <a:latin typeface="Calibri"/>
              </a:defRPr>
            </a:pPr>
            <a:r>
              <a:t>A mobile app that turns your phone into an accessibility inspection tool</a:t>
            </a:r>
          </a:p>
        </p:txBody>
      </p:sp>
      <p:sp>
        <p:nvSpPr>
          <p:cNvPr id="5" name="Rounded Rectangle 4"/>
          <p:cNvSpPr/>
          <p:nvPr/>
        </p:nvSpPr>
        <p:spPr>
          <a:xfrm>
            <a:off x="731520" y="1554480"/>
            <a:ext cx="10972800" cy="137160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691640"/>
            <a:ext cx="10058400" cy="365760"/>
          </a:xfrm>
          <a:prstGeom prst="rect">
            <a:avLst/>
          </a:prstGeom>
          <a:noFill/>
        </p:spPr>
        <p:txBody>
          <a:bodyPr wrap="square">
            <a:spAutoFit/>
          </a:bodyPr>
          <a:lstStyle/>
          <a:p>
            <a:pPr algn="l">
              <a:defRPr sz="1600" b="1">
                <a:solidFill>
                  <a:srgbClr val="00D261"/>
                </a:solidFill>
                <a:latin typeface="Calibri"/>
              </a:defRPr>
            </a:pPr>
            <a:r>
              <a:t>What does WheelScan do?</a:t>
            </a:r>
          </a:p>
        </p:txBody>
      </p:sp>
      <p:sp>
        <p:nvSpPr>
          <p:cNvPr id="7" name="TextBox 6"/>
          <p:cNvSpPr txBox="1"/>
          <p:nvPr/>
        </p:nvSpPr>
        <p:spPr>
          <a:xfrm>
            <a:off x="1097280" y="2103120"/>
            <a:ext cx="10058400" cy="640080"/>
          </a:xfrm>
          <a:prstGeom prst="rect">
            <a:avLst/>
          </a:prstGeom>
          <a:noFill/>
        </p:spPr>
        <p:txBody>
          <a:bodyPr wrap="square">
            <a:spAutoFit/>
          </a:bodyPr>
          <a:lstStyle/>
          <a:p>
            <a:pPr algn="l">
              <a:defRPr sz="1300" b="0">
                <a:solidFill>
                  <a:srgbClr val="94A3B8"/>
                </a:solidFill>
                <a:latin typeface="Calibri"/>
              </a:defRPr>
            </a:pPr>
            <a:r>
              <a:t>WheelScan lets any person take a photo of a public space (like a ramp, doorway, elevator, parking lot, staircase, road, or any area) and instantly get a detailed accessibility score out of 100. The app tells you what is good, what needs improvement, and gives specific recommendations. It also has a community feed where people share their audits, an accessibility map showing all audited locations, and a gamified profile with badges and streaks.</a:t>
            </a:r>
          </a:p>
        </p:txBody>
      </p:sp>
      <p:sp>
        <p:nvSpPr>
          <p:cNvPr id="8" name="Rounded Rectangle 7"/>
          <p:cNvSpPr/>
          <p:nvPr/>
        </p:nvSpPr>
        <p:spPr>
          <a:xfrm>
            <a:off x="731520" y="3200400"/>
            <a:ext cx="3383280" cy="196596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3200400"/>
            <a:ext cx="73152" cy="1965960"/>
          </a:xfrm>
          <a:prstGeom prst="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337560"/>
            <a:ext cx="2926080" cy="274320"/>
          </a:xfrm>
          <a:prstGeom prst="rect">
            <a:avLst/>
          </a:prstGeom>
          <a:noFill/>
        </p:spPr>
        <p:txBody>
          <a:bodyPr wrap="square">
            <a:spAutoFit/>
          </a:bodyPr>
          <a:lstStyle/>
          <a:p>
            <a:pPr algn="l">
              <a:defRPr sz="1300" b="1">
                <a:solidFill>
                  <a:srgbClr val="00D261"/>
                </a:solidFill>
                <a:latin typeface="Calibri"/>
              </a:defRPr>
            </a:pPr>
            <a:r>
              <a:t>Scan Any Space</a:t>
            </a:r>
          </a:p>
        </p:txBody>
      </p:sp>
      <p:sp>
        <p:nvSpPr>
          <p:cNvPr id="11" name="TextBox 10"/>
          <p:cNvSpPr txBox="1"/>
          <p:nvPr/>
        </p:nvSpPr>
        <p:spPr>
          <a:xfrm>
            <a:off x="960120" y="3657600"/>
            <a:ext cx="2926080" cy="1417319"/>
          </a:xfrm>
          <a:prstGeom prst="rect">
            <a:avLst/>
          </a:prstGeom>
          <a:noFill/>
        </p:spPr>
        <p:txBody>
          <a:bodyPr wrap="square">
            <a:spAutoFit/>
          </a:bodyPr>
          <a:lstStyle/>
          <a:p>
            <a:pPr algn="l">
              <a:defRPr sz="900" b="0">
                <a:solidFill>
                  <a:srgbClr val="94A3B8"/>
                </a:solidFill>
                <a:latin typeface="Calibri"/>
              </a:defRPr>
            </a:pPr>
            <a:r>
              <a:t>User opens the camera or uploads a photo from gallery. The app accepts any image of any public space. No special equipment needed — just a smartphone.</a:t>
            </a:r>
          </a:p>
        </p:txBody>
      </p:sp>
      <p:sp>
        <p:nvSpPr>
          <p:cNvPr id="12" name="Rounded Rectangle 11"/>
          <p:cNvSpPr/>
          <p:nvPr/>
        </p:nvSpPr>
        <p:spPr>
          <a:xfrm>
            <a:off x="4389120" y="3200400"/>
            <a:ext cx="3383280" cy="196596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3200400"/>
            <a:ext cx="73152" cy="1965960"/>
          </a:xfrm>
          <a:prstGeom prst="rect">
            <a:avLst/>
          </a:prstGeom>
          <a:solidFill>
            <a:srgbClr val="4F7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3337560"/>
            <a:ext cx="2926080" cy="274320"/>
          </a:xfrm>
          <a:prstGeom prst="rect">
            <a:avLst/>
          </a:prstGeom>
          <a:noFill/>
        </p:spPr>
        <p:txBody>
          <a:bodyPr wrap="square">
            <a:spAutoFit/>
          </a:bodyPr>
          <a:lstStyle/>
          <a:p>
            <a:pPr algn="l">
              <a:defRPr sz="1300" b="1">
                <a:solidFill>
                  <a:srgbClr val="4F7DF7"/>
                </a:solidFill>
                <a:latin typeface="Calibri"/>
              </a:defRPr>
            </a:pPr>
            <a:r>
              <a:t>Smart Space Recognition</a:t>
            </a:r>
          </a:p>
        </p:txBody>
      </p:sp>
      <p:sp>
        <p:nvSpPr>
          <p:cNvPr id="15" name="TextBox 14"/>
          <p:cNvSpPr txBox="1"/>
          <p:nvPr/>
        </p:nvSpPr>
        <p:spPr>
          <a:xfrm>
            <a:off x="4617720" y="3657600"/>
            <a:ext cx="2926080" cy="1417319"/>
          </a:xfrm>
          <a:prstGeom prst="rect">
            <a:avLst/>
          </a:prstGeom>
          <a:noFill/>
        </p:spPr>
        <p:txBody>
          <a:bodyPr wrap="square">
            <a:spAutoFit/>
          </a:bodyPr>
          <a:lstStyle/>
          <a:p>
            <a:pPr algn="l">
              <a:defRPr sz="900" b="0">
                <a:solidFill>
                  <a:srgbClr val="94A3B8"/>
                </a:solidFill>
                <a:latin typeface="Calibri"/>
              </a:defRPr>
            </a:pPr>
            <a:r>
              <a:t>After uploading, user either picks from 5 preset categories (Ramp, Doorway, Elevator, Parking, Staircase) OR types a custom description like 'road area near hospital'. The app understands 12+ space types.</a:t>
            </a:r>
          </a:p>
        </p:txBody>
      </p:sp>
      <p:sp>
        <p:nvSpPr>
          <p:cNvPr id="16" name="Rounded Rectangle 15"/>
          <p:cNvSpPr/>
          <p:nvPr/>
        </p:nvSpPr>
        <p:spPr>
          <a:xfrm>
            <a:off x="8046720" y="3200400"/>
            <a:ext cx="3383280" cy="196596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3200400"/>
            <a:ext cx="73152" cy="196596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20" y="3337560"/>
            <a:ext cx="2926080" cy="274320"/>
          </a:xfrm>
          <a:prstGeom prst="rect">
            <a:avLst/>
          </a:prstGeom>
          <a:noFill/>
        </p:spPr>
        <p:txBody>
          <a:bodyPr wrap="square">
            <a:spAutoFit/>
          </a:bodyPr>
          <a:lstStyle/>
          <a:p>
            <a:pPr algn="l">
              <a:defRPr sz="1300" b="1">
                <a:solidFill>
                  <a:srgbClr val="8B5CF6"/>
                </a:solidFill>
                <a:latin typeface="Calibri"/>
              </a:defRPr>
            </a:pPr>
            <a:r>
              <a:t>Detailed Score &amp; Breakdown</a:t>
            </a:r>
          </a:p>
        </p:txBody>
      </p:sp>
      <p:sp>
        <p:nvSpPr>
          <p:cNvPr id="19" name="TextBox 18"/>
          <p:cNvSpPr txBox="1"/>
          <p:nvPr/>
        </p:nvSpPr>
        <p:spPr>
          <a:xfrm>
            <a:off x="8275320" y="3657600"/>
            <a:ext cx="2926080" cy="1417319"/>
          </a:xfrm>
          <a:prstGeom prst="rect">
            <a:avLst/>
          </a:prstGeom>
          <a:noFill/>
        </p:spPr>
        <p:txBody>
          <a:bodyPr wrap="square">
            <a:spAutoFit/>
          </a:bodyPr>
          <a:lstStyle/>
          <a:p>
            <a:pPr algn="l">
              <a:defRPr sz="900" b="0">
                <a:solidFill>
                  <a:srgbClr val="94A3B8"/>
                </a:solidFill>
                <a:latin typeface="Calibri"/>
              </a:defRPr>
            </a:pPr>
            <a:r>
              <a:t>The app generates a score from 0 to 100. Each space is checked on multiple criteria. Every criterion gets a PASS (green), WARNING (orange), or CRITICAL (red) rating with a specific recommendation.</a:t>
            </a:r>
          </a:p>
        </p:txBody>
      </p:sp>
      <p:sp>
        <p:nvSpPr>
          <p:cNvPr id="20" name="Rounded Rectangle 19"/>
          <p:cNvSpPr/>
          <p:nvPr/>
        </p:nvSpPr>
        <p:spPr>
          <a:xfrm>
            <a:off x="731520" y="5349240"/>
            <a:ext cx="3383280" cy="128016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5349240"/>
            <a:ext cx="73152" cy="1280160"/>
          </a:xfrm>
          <a:prstGeom prst="rect">
            <a:avLst/>
          </a:prstGeom>
          <a:solidFill>
            <a:srgbClr val="FFB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5486400"/>
            <a:ext cx="2926080" cy="274320"/>
          </a:xfrm>
          <a:prstGeom prst="rect">
            <a:avLst/>
          </a:prstGeom>
          <a:noFill/>
        </p:spPr>
        <p:txBody>
          <a:bodyPr wrap="square">
            <a:spAutoFit/>
          </a:bodyPr>
          <a:lstStyle/>
          <a:p>
            <a:pPr algn="l">
              <a:defRPr sz="1300" b="1">
                <a:solidFill>
                  <a:srgbClr val="FFB020"/>
                </a:solidFill>
                <a:latin typeface="Calibri"/>
              </a:defRPr>
            </a:pPr>
            <a:r>
              <a:t>Interactive Accessibility Map</a:t>
            </a:r>
          </a:p>
        </p:txBody>
      </p:sp>
      <p:sp>
        <p:nvSpPr>
          <p:cNvPr id="23" name="TextBox 22"/>
          <p:cNvSpPr txBox="1"/>
          <p:nvPr/>
        </p:nvSpPr>
        <p:spPr>
          <a:xfrm>
            <a:off x="960120" y="5806440"/>
            <a:ext cx="2926080" cy="731519"/>
          </a:xfrm>
          <a:prstGeom prst="rect">
            <a:avLst/>
          </a:prstGeom>
          <a:noFill/>
        </p:spPr>
        <p:txBody>
          <a:bodyPr wrap="square">
            <a:spAutoFit/>
          </a:bodyPr>
          <a:lstStyle/>
          <a:p>
            <a:pPr algn="l">
              <a:defRPr sz="900" b="0">
                <a:solidFill>
                  <a:srgbClr val="94A3B8"/>
                </a:solidFill>
                <a:latin typeface="Calibri"/>
              </a:defRPr>
            </a:pPr>
            <a:r>
              <a:t>All audited locations appear on a map with color-coded pins. Green pins = score 75+, Orange = 50-74, Red = below 50. Users can filter by space type and tap pins to see details.</a:t>
            </a:r>
          </a:p>
        </p:txBody>
      </p:sp>
      <p:sp>
        <p:nvSpPr>
          <p:cNvPr id="24" name="Rounded Rectangle 23"/>
          <p:cNvSpPr/>
          <p:nvPr/>
        </p:nvSpPr>
        <p:spPr>
          <a:xfrm>
            <a:off x="4389120" y="5349240"/>
            <a:ext cx="3383280" cy="128016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89120" y="5349240"/>
            <a:ext cx="73152" cy="128016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17720" y="5486400"/>
            <a:ext cx="2926080" cy="274320"/>
          </a:xfrm>
          <a:prstGeom prst="rect">
            <a:avLst/>
          </a:prstGeom>
          <a:noFill/>
        </p:spPr>
        <p:txBody>
          <a:bodyPr wrap="square">
            <a:spAutoFit/>
          </a:bodyPr>
          <a:lstStyle/>
          <a:p>
            <a:pPr algn="l">
              <a:defRPr sz="1300" b="1">
                <a:solidFill>
                  <a:srgbClr val="009688"/>
                </a:solidFill>
                <a:latin typeface="Calibri"/>
              </a:defRPr>
            </a:pPr>
            <a:r>
              <a:t>Community Feed</a:t>
            </a:r>
          </a:p>
        </p:txBody>
      </p:sp>
      <p:sp>
        <p:nvSpPr>
          <p:cNvPr id="27" name="TextBox 26"/>
          <p:cNvSpPr txBox="1"/>
          <p:nvPr/>
        </p:nvSpPr>
        <p:spPr>
          <a:xfrm>
            <a:off x="4617720" y="5806440"/>
            <a:ext cx="2926080" cy="731519"/>
          </a:xfrm>
          <a:prstGeom prst="rect">
            <a:avLst/>
          </a:prstGeom>
          <a:noFill/>
        </p:spPr>
        <p:txBody>
          <a:bodyPr wrap="square">
            <a:spAutoFit/>
          </a:bodyPr>
          <a:lstStyle/>
          <a:p>
            <a:pPr algn="l">
              <a:defRPr sz="900" b="0">
                <a:solidFill>
                  <a:srgbClr val="94A3B8"/>
                </a:solidFill>
                <a:latin typeface="Calibri"/>
              </a:defRPr>
            </a:pPr>
            <a:r>
              <a:t>A social feed showing audits from all users. Each post shows the location, score, user name, description, and has like/comment/share buttons. Users can see what others have audited nearby.</a:t>
            </a:r>
          </a:p>
        </p:txBody>
      </p:sp>
      <p:sp>
        <p:nvSpPr>
          <p:cNvPr id="28" name="Rounded Rectangle 27"/>
          <p:cNvSpPr/>
          <p:nvPr/>
        </p:nvSpPr>
        <p:spPr>
          <a:xfrm>
            <a:off x="8046720" y="5349240"/>
            <a:ext cx="3383280" cy="128016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46720" y="5349240"/>
            <a:ext cx="73152" cy="128016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75320" y="5486400"/>
            <a:ext cx="2926080" cy="274320"/>
          </a:xfrm>
          <a:prstGeom prst="rect">
            <a:avLst/>
          </a:prstGeom>
          <a:noFill/>
        </p:spPr>
        <p:txBody>
          <a:bodyPr wrap="square">
            <a:spAutoFit/>
          </a:bodyPr>
          <a:lstStyle/>
          <a:p>
            <a:pPr algn="l">
              <a:defRPr sz="1300" b="1">
                <a:solidFill>
                  <a:srgbClr val="EF4444"/>
                </a:solidFill>
                <a:latin typeface="Calibri"/>
              </a:defRPr>
            </a:pPr>
            <a:r>
              <a:t>Profile, Badges &amp; Gamification</a:t>
            </a:r>
          </a:p>
        </p:txBody>
      </p:sp>
      <p:sp>
        <p:nvSpPr>
          <p:cNvPr id="31" name="TextBox 30"/>
          <p:cNvSpPr txBox="1"/>
          <p:nvPr/>
        </p:nvSpPr>
        <p:spPr>
          <a:xfrm>
            <a:off x="8275320" y="5806440"/>
            <a:ext cx="2926080" cy="731519"/>
          </a:xfrm>
          <a:prstGeom prst="rect">
            <a:avLst/>
          </a:prstGeom>
          <a:noFill/>
        </p:spPr>
        <p:txBody>
          <a:bodyPr wrap="square">
            <a:spAutoFit/>
          </a:bodyPr>
          <a:lstStyle/>
          <a:p>
            <a:pPr algn="l">
              <a:defRPr sz="900" b="0">
                <a:solidFill>
                  <a:srgbClr val="94A3B8"/>
                </a:solidFill>
                <a:latin typeface="Calibri"/>
              </a:defRPr>
            </a:pPr>
            <a:r>
              <a:t>Users earn badges (First Scan, 5 Audits, Ramp Expert, etc.), maintain daily streaks, and see their audit history. Settings include edit profile, notifications, language, dark mode, and more.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640080"/>
          </a:xfrm>
          <a:prstGeom prst="rect">
            <a:avLst/>
          </a:prstGeom>
          <a:noFill/>
        </p:spPr>
        <p:txBody>
          <a:bodyPr wrap="square">
            <a:spAutoFit/>
          </a:bodyPr>
          <a:lstStyle/>
          <a:p>
            <a:pPr algn="l">
              <a:defRPr sz="3600" b="1">
                <a:solidFill>
                  <a:srgbClr val="0F172A"/>
                </a:solidFill>
                <a:latin typeface="Calibri"/>
              </a:defRPr>
            </a:pPr>
            <a:r>
              <a:t>How WheelScan Works</a:t>
            </a:r>
          </a:p>
        </p:txBody>
      </p:sp>
      <p:sp>
        <p:nvSpPr>
          <p:cNvPr id="4" name="TextBox 3"/>
          <p:cNvSpPr txBox="1"/>
          <p:nvPr/>
        </p:nvSpPr>
        <p:spPr>
          <a:xfrm>
            <a:off x="731520" y="914400"/>
            <a:ext cx="9144000" cy="457200"/>
          </a:xfrm>
          <a:prstGeom prst="rect">
            <a:avLst/>
          </a:prstGeom>
          <a:noFill/>
        </p:spPr>
        <p:txBody>
          <a:bodyPr wrap="square">
            <a:spAutoFit/>
          </a:bodyPr>
          <a:lstStyle/>
          <a:p>
            <a:pPr algn="l">
              <a:defRPr sz="1500" b="0">
                <a:solidFill>
                  <a:srgbClr val="64748B"/>
                </a:solidFill>
                <a:latin typeface="Calibri"/>
              </a:defRPr>
            </a:pPr>
            <a:r>
              <a:t>Complete user journey from opening the app to saving an audit</a:t>
            </a:r>
          </a:p>
        </p:txBody>
      </p:sp>
      <p:sp>
        <p:nvSpPr>
          <p:cNvPr id="5" name="Rounded Rectangle 4"/>
          <p:cNvSpPr/>
          <p:nvPr/>
        </p:nvSpPr>
        <p:spPr>
          <a:xfrm>
            <a:off x="731520" y="1463040"/>
            <a:ext cx="10972800" cy="91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05840" y="1600200"/>
            <a:ext cx="548640" cy="548640"/>
          </a:xfrm>
          <a:prstGeom prst="round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18488"/>
            <a:ext cx="548640" cy="548640"/>
          </a:xfrm>
          <a:prstGeom prst="rect">
            <a:avLst/>
          </a:prstGeom>
          <a:noFill/>
        </p:spPr>
        <p:txBody>
          <a:bodyPr wrap="square">
            <a:spAutoFit/>
          </a:bodyPr>
          <a:lstStyle/>
          <a:p>
            <a:pPr algn="ctr">
              <a:defRPr sz="1800" b="1">
                <a:solidFill>
                  <a:srgbClr val="FFFFFF"/>
                </a:solidFill>
                <a:latin typeface="Calibri"/>
              </a:defRPr>
            </a:pPr>
            <a:r>
              <a:t>01</a:t>
            </a:r>
          </a:p>
        </p:txBody>
      </p:sp>
      <p:sp>
        <p:nvSpPr>
          <p:cNvPr id="8" name="TextBox 7"/>
          <p:cNvSpPr txBox="1"/>
          <p:nvPr/>
        </p:nvSpPr>
        <p:spPr>
          <a:xfrm>
            <a:off x="1828800" y="1554480"/>
            <a:ext cx="3657600" cy="274320"/>
          </a:xfrm>
          <a:prstGeom prst="rect">
            <a:avLst/>
          </a:prstGeom>
          <a:noFill/>
        </p:spPr>
        <p:txBody>
          <a:bodyPr wrap="square">
            <a:spAutoFit/>
          </a:bodyPr>
          <a:lstStyle/>
          <a:p>
            <a:pPr algn="l">
              <a:defRPr sz="1400" b="1">
                <a:solidFill>
                  <a:srgbClr val="0F172A"/>
                </a:solidFill>
                <a:latin typeface="Calibri"/>
              </a:defRPr>
            </a:pPr>
            <a:r>
              <a:t>User Opens the App</a:t>
            </a:r>
          </a:p>
        </p:txBody>
      </p:sp>
      <p:sp>
        <p:nvSpPr>
          <p:cNvPr id="9" name="TextBox 8"/>
          <p:cNvSpPr txBox="1"/>
          <p:nvPr/>
        </p:nvSpPr>
        <p:spPr>
          <a:xfrm>
            <a:off x="1828800" y="1874520"/>
            <a:ext cx="9418320" cy="457200"/>
          </a:xfrm>
          <a:prstGeom prst="rect">
            <a:avLst/>
          </a:prstGeom>
          <a:noFill/>
        </p:spPr>
        <p:txBody>
          <a:bodyPr wrap="square">
            <a:spAutoFit/>
          </a:bodyPr>
          <a:lstStyle/>
          <a:p>
            <a:pPr algn="l">
              <a:defRPr sz="1000" b="0">
                <a:solidFill>
                  <a:srgbClr val="64748B"/>
                </a:solidFill>
                <a:latin typeface="Calibri"/>
              </a:defRPr>
            </a:pPr>
            <a:r>
              <a:t>The app starts with an animated splash screen showing the WheelScan logo. After 3 seconds, it automatically moves to the home dashboard which shows stats, recent audits, and a big 'Scan Now' button.</a:t>
            </a:r>
          </a:p>
        </p:txBody>
      </p:sp>
      <p:sp>
        <p:nvSpPr>
          <p:cNvPr id="10" name="Rounded Rectangle 9"/>
          <p:cNvSpPr/>
          <p:nvPr/>
        </p:nvSpPr>
        <p:spPr>
          <a:xfrm>
            <a:off x="731520" y="2514600"/>
            <a:ext cx="10972800" cy="91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05840" y="2651760"/>
            <a:ext cx="548640" cy="548640"/>
          </a:xfrm>
          <a:prstGeom prst="roundRect">
            <a:avLst/>
          </a:prstGeom>
          <a:solidFill>
            <a:srgbClr val="4F7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670048"/>
            <a:ext cx="548640" cy="548640"/>
          </a:xfrm>
          <a:prstGeom prst="rect">
            <a:avLst/>
          </a:prstGeom>
          <a:noFill/>
        </p:spPr>
        <p:txBody>
          <a:bodyPr wrap="square">
            <a:spAutoFit/>
          </a:bodyPr>
          <a:lstStyle/>
          <a:p>
            <a:pPr algn="ctr">
              <a:defRPr sz="1800" b="1">
                <a:solidFill>
                  <a:srgbClr val="FFFFFF"/>
                </a:solidFill>
                <a:latin typeface="Calibri"/>
              </a:defRPr>
            </a:pPr>
            <a:r>
              <a:t>02</a:t>
            </a:r>
          </a:p>
        </p:txBody>
      </p:sp>
      <p:sp>
        <p:nvSpPr>
          <p:cNvPr id="13" name="TextBox 12"/>
          <p:cNvSpPr txBox="1"/>
          <p:nvPr/>
        </p:nvSpPr>
        <p:spPr>
          <a:xfrm>
            <a:off x="1828800" y="2606040"/>
            <a:ext cx="3657600" cy="274320"/>
          </a:xfrm>
          <a:prstGeom prst="rect">
            <a:avLst/>
          </a:prstGeom>
          <a:noFill/>
        </p:spPr>
        <p:txBody>
          <a:bodyPr wrap="square">
            <a:spAutoFit/>
          </a:bodyPr>
          <a:lstStyle/>
          <a:p>
            <a:pPr algn="l">
              <a:defRPr sz="1400" b="1">
                <a:solidFill>
                  <a:srgbClr val="0F172A"/>
                </a:solidFill>
                <a:latin typeface="Calibri"/>
              </a:defRPr>
            </a:pPr>
            <a:r>
              <a:t>Takes Photo or Uploads Image</a:t>
            </a:r>
          </a:p>
        </p:txBody>
      </p:sp>
      <p:sp>
        <p:nvSpPr>
          <p:cNvPr id="14" name="TextBox 13"/>
          <p:cNvSpPr txBox="1"/>
          <p:nvPr/>
        </p:nvSpPr>
        <p:spPr>
          <a:xfrm>
            <a:off x="1828800" y="2926080"/>
            <a:ext cx="9418320" cy="457200"/>
          </a:xfrm>
          <a:prstGeom prst="rect">
            <a:avLst/>
          </a:prstGeom>
          <a:noFill/>
        </p:spPr>
        <p:txBody>
          <a:bodyPr wrap="square">
            <a:spAutoFit/>
          </a:bodyPr>
          <a:lstStyle/>
          <a:p>
            <a:pPr algn="l">
              <a:defRPr sz="1000" b="0">
                <a:solidFill>
                  <a:srgbClr val="64748B"/>
                </a:solidFill>
                <a:latin typeface="Calibri"/>
              </a:defRPr>
            </a:pPr>
            <a:r>
              <a:t>User taps 'Scan Now' and goes to the scan screen. They can either use the camera to take a new photo, or upload an existing photo from their gallery. The image_picker Flutter package handles this.</a:t>
            </a:r>
          </a:p>
        </p:txBody>
      </p:sp>
      <p:sp>
        <p:nvSpPr>
          <p:cNvPr id="15" name="Rounded Rectangle 14"/>
          <p:cNvSpPr/>
          <p:nvPr/>
        </p:nvSpPr>
        <p:spPr>
          <a:xfrm>
            <a:off x="731520" y="3566160"/>
            <a:ext cx="10972800" cy="91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05840" y="3703320"/>
            <a:ext cx="548640" cy="54864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721608"/>
            <a:ext cx="548640" cy="548640"/>
          </a:xfrm>
          <a:prstGeom prst="rect">
            <a:avLst/>
          </a:prstGeom>
          <a:noFill/>
        </p:spPr>
        <p:txBody>
          <a:bodyPr wrap="square">
            <a:spAutoFit/>
          </a:bodyPr>
          <a:lstStyle/>
          <a:p>
            <a:pPr algn="ctr">
              <a:defRPr sz="1800" b="1">
                <a:solidFill>
                  <a:srgbClr val="FFFFFF"/>
                </a:solidFill>
                <a:latin typeface="Calibri"/>
              </a:defRPr>
            </a:pPr>
            <a:r>
              <a:t>03</a:t>
            </a:r>
          </a:p>
        </p:txBody>
      </p:sp>
      <p:sp>
        <p:nvSpPr>
          <p:cNvPr id="18" name="TextBox 17"/>
          <p:cNvSpPr txBox="1"/>
          <p:nvPr/>
        </p:nvSpPr>
        <p:spPr>
          <a:xfrm>
            <a:off x="1828800" y="3657600"/>
            <a:ext cx="3657600" cy="274320"/>
          </a:xfrm>
          <a:prstGeom prst="rect">
            <a:avLst/>
          </a:prstGeom>
          <a:noFill/>
        </p:spPr>
        <p:txBody>
          <a:bodyPr wrap="square">
            <a:spAutoFit/>
          </a:bodyPr>
          <a:lstStyle/>
          <a:p>
            <a:pPr algn="l">
              <a:defRPr sz="1400" b="1">
                <a:solidFill>
                  <a:srgbClr val="0F172A"/>
                </a:solidFill>
                <a:latin typeface="Calibri"/>
              </a:defRPr>
            </a:pPr>
            <a:r>
              <a:t>Selects Space Type</a:t>
            </a:r>
          </a:p>
        </p:txBody>
      </p:sp>
      <p:sp>
        <p:nvSpPr>
          <p:cNvPr id="19" name="TextBox 18"/>
          <p:cNvSpPr txBox="1"/>
          <p:nvPr/>
        </p:nvSpPr>
        <p:spPr>
          <a:xfrm>
            <a:off x="1828800" y="3977639"/>
            <a:ext cx="9418320" cy="457200"/>
          </a:xfrm>
          <a:prstGeom prst="rect">
            <a:avLst/>
          </a:prstGeom>
          <a:noFill/>
        </p:spPr>
        <p:txBody>
          <a:bodyPr wrap="square">
            <a:spAutoFit/>
          </a:bodyPr>
          <a:lstStyle/>
          <a:p>
            <a:pPr algn="l">
              <a:defRPr sz="1000" b="0">
                <a:solidFill>
                  <a:srgbClr val="64748B"/>
                </a:solidFill>
                <a:latin typeface="Calibri"/>
              </a:defRPr>
            </a:pPr>
            <a:r>
              <a:t>A beautiful bottom sheet slides up asking 'What type of space is this?' The user can pick from 5 preset types (Ramp, Doorway, Elevator, Parking, Staircase) OR tap 'Describe the Space' to type something custom like 'road area' or 'hospital corridor'.</a:t>
            </a:r>
          </a:p>
        </p:txBody>
      </p:sp>
      <p:sp>
        <p:nvSpPr>
          <p:cNvPr id="20" name="Rounded Rectangle 19"/>
          <p:cNvSpPr/>
          <p:nvPr/>
        </p:nvSpPr>
        <p:spPr>
          <a:xfrm>
            <a:off x="731520" y="4617720"/>
            <a:ext cx="10972800" cy="91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05840" y="4754880"/>
            <a:ext cx="548640" cy="548640"/>
          </a:xfrm>
          <a:prstGeom prst="roundRect">
            <a:avLst/>
          </a:prstGeom>
          <a:solidFill>
            <a:srgbClr val="FFB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4773168"/>
            <a:ext cx="548640" cy="548640"/>
          </a:xfrm>
          <a:prstGeom prst="rect">
            <a:avLst/>
          </a:prstGeom>
          <a:noFill/>
        </p:spPr>
        <p:txBody>
          <a:bodyPr wrap="square">
            <a:spAutoFit/>
          </a:bodyPr>
          <a:lstStyle/>
          <a:p>
            <a:pPr algn="ctr">
              <a:defRPr sz="1800" b="1">
                <a:solidFill>
                  <a:srgbClr val="FFFFFF"/>
                </a:solidFill>
                <a:latin typeface="Calibri"/>
              </a:defRPr>
            </a:pPr>
            <a:r>
              <a:t>04</a:t>
            </a:r>
          </a:p>
        </p:txBody>
      </p:sp>
      <p:sp>
        <p:nvSpPr>
          <p:cNvPr id="23" name="TextBox 22"/>
          <p:cNvSpPr txBox="1"/>
          <p:nvPr/>
        </p:nvSpPr>
        <p:spPr>
          <a:xfrm>
            <a:off x="1828800" y="4709159"/>
            <a:ext cx="3657600" cy="274320"/>
          </a:xfrm>
          <a:prstGeom prst="rect">
            <a:avLst/>
          </a:prstGeom>
          <a:noFill/>
        </p:spPr>
        <p:txBody>
          <a:bodyPr wrap="square">
            <a:spAutoFit/>
          </a:bodyPr>
          <a:lstStyle/>
          <a:p>
            <a:pPr algn="l">
              <a:defRPr sz="1400" b="1">
                <a:solidFill>
                  <a:srgbClr val="0F172A"/>
                </a:solidFill>
                <a:latin typeface="Calibri"/>
              </a:defRPr>
            </a:pPr>
            <a:r>
              <a:t>App Analyzes the Space</a:t>
            </a:r>
          </a:p>
        </p:txBody>
      </p:sp>
      <p:sp>
        <p:nvSpPr>
          <p:cNvPr id="24" name="TextBox 23"/>
          <p:cNvSpPr txBox="1"/>
          <p:nvPr/>
        </p:nvSpPr>
        <p:spPr>
          <a:xfrm>
            <a:off x="1828800" y="5029200"/>
            <a:ext cx="9418320" cy="457200"/>
          </a:xfrm>
          <a:prstGeom prst="rect">
            <a:avLst/>
          </a:prstGeom>
          <a:noFill/>
        </p:spPr>
        <p:txBody>
          <a:bodyPr wrap="square">
            <a:spAutoFit/>
          </a:bodyPr>
          <a:lstStyle/>
          <a:p>
            <a:pPr algn="l">
              <a:defRPr sz="1000" b="0">
                <a:solidFill>
                  <a:srgbClr val="64748B"/>
                </a:solidFill>
                <a:latin typeface="Calibri"/>
              </a:defRPr>
            </a:pPr>
            <a:r>
              <a:t>A loading animation shows 'Analyzing Space...' for 2 seconds. Behind the scenes, the scoring engine matches the user's input to one of 12+ categories, picks the right accessibility criteria, and calculates a score.</a:t>
            </a:r>
          </a:p>
        </p:txBody>
      </p:sp>
      <p:sp>
        <p:nvSpPr>
          <p:cNvPr id="25" name="Rounded Rectangle 24"/>
          <p:cNvSpPr/>
          <p:nvPr/>
        </p:nvSpPr>
        <p:spPr>
          <a:xfrm>
            <a:off x="731520" y="5669279"/>
            <a:ext cx="10972800" cy="91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005840" y="5806440"/>
            <a:ext cx="548640" cy="548640"/>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 y="5824727"/>
            <a:ext cx="548640" cy="548640"/>
          </a:xfrm>
          <a:prstGeom prst="rect">
            <a:avLst/>
          </a:prstGeom>
          <a:noFill/>
        </p:spPr>
        <p:txBody>
          <a:bodyPr wrap="square">
            <a:spAutoFit/>
          </a:bodyPr>
          <a:lstStyle/>
          <a:p>
            <a:pPr algn="ctr">
              <a:defRPr sz="1800" b="1">
                <a:solidFill>
                  <a:srgbClr val="FFFFFF"/>
                </a:solidFill>
                <a:latin typeface="Calibri"/>
              </a:defRPr>
            </a:pPr>
            <a:r>
              <a:t>05</a:t>
            </a:r>
          </a:p>
        </p:txBody>
      </p:sp>
      <p:sp>
        <p:nvSpPr>
          <p:cNvPr id="28" name="TextBox 27"/>
          <p:cNvSpPr txBox="1"/>
          <p:nvPr/>
        </p:nvSpPr>
        <p:spPr>
          <a:xfrm>
            <a:off x="1828800" y="5760719"/>
            <a:ext cx="3657600" cy="274320"/>
          </a:xfrm>
          <a:prstGeom prst="rect">
            <a:avLst/>
          </a:prstGeom>
          <a:noFill/>
        </p:spPr>
        <p:txBody>
          <a:bodyPr wrap="square">
            <a:spAutoFit/>
          </a:bodyPr>
          <a:lstStyle/>
          <a:p>
            <a:pPr algn="l">
              <a:defRPr sz="1400" b="1">
                <a:solidFill>
                  <a:srgbClr val="0F172A"/>
                </a:solidFill>
                <a:latin typeface="Calibri"/>
              </a:defRPr>
            </a:pPr>
            <a:r>
              <a:t>Sees Detailed Results</a:t>
            </a:r>
          </a:p>
        </p:txBody>
      </p:sp>
      <p:sp>
        <p:nvSpPr>
          <p:cNvPr id="29" name="TextBox 28"/>
          <p:cNvSpPr txBox="1"/>
          <p:nvPr/>
        </p:nvSpPr>
        <p:spPr>
          <a:xfrm>
            <a:off x="1828800" y="6080759"/>
            <a:ext cx="9418320" cy="457200"/>
          </a:xfrm>
          <a:prstGeom prst="rect">
            <a:avLst/>
          </a:prstGeom>
          <a:noFill/>
        </p:spPr>
        <p:txBody>
          <a:bodyPr wrap="square">
            <a:spAutoFit/>
          </a:bodyPr>
          <a:lstStyle/>
          <a:p>
            <a:pPr algn="l">
              <a:defRPr sz="1000" b="0">
                <a:solidFill>
                  <a:srgbClr val="64748B"/>
                </a:solidFill>
                <a:latin typeface="Calibri"/>
              </a:defRPr>
            </a:pPr>
            <a:r>
              <a:t>The results screen shows: (1) An animated score ring that fills from 0 to the final score, (2) A PASS/WARNING/CRITICAL count, (3) Each issue with its severity badge and recommendation. The user can save the audit or go back and scan again.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640080"/>
          </a:xfrm>
          <a:prstGeom prst="rect">
            <a:avLst/>
          </a:prstGeom>
          <a:noFill/>
        </p:spPr>
        <p:txBody>
          <a:bodyPr wrap="square">
            <a:spAutoFit/>
          </a:bodyPr>
          <a:lstStyle/>
          <a:p>
            <a:pPr algn="l">
              <a:defRPr sz="3600" b="1">
                <a:solidFill>
                  <a:srgbClr val="0F172A"/>
                </a:solidFill>
                <a:latin typeface="Calibri"/>
              </a:defRPr>
            </a:pPr>
            <a:r>
              <a:t>Technology Stack</a:t>
            </a:r>
          </a:p>
        </p:txBody>
      </p:sp>
      <p:sp>
        <p:nvSpPr>
          <p:cNvPr id="4" name="TextBox 3"/>
          <p:cNvSpPr txBox="1"/>
          <p:nvPr/>
        </p:nvSpPr>
        <p:spPr>
          <a:xfrm>
            <a:off x="731520" y="914400"/>
            <a:ext cx="9144000" cy="457200"/>
          </a:xfrm>
          <a:prstGeom prst="rect">
            <a:avLst/>
          </a:prstGeom>
          <a:noFill/>
        </p:spPr>
        <p:txBody>
          <a:bodyPr wrap="square">
            <a:spAutoFit/>
          </a:bodyPr>
          <a:lstStyle/>
          <a:p>
            <a:pPr algn="l">
              <a:defRPr sz="1500" b="0">
                <a:solidFill>
                  <a:srgbClr val="64748B"/>
                </a:solidFill>
                <a:latin typeface="Calibri"/>
              </a:defRPr>
            </a:pPr>
            <a:r>
              <a:t>Every tool and package we used, and why we chose it</a:t>
            </a:r>
          </a:p>
        </p:txBody>
      </p:sp>
      <p:sp>
        <p:nvSpPr>
          <p:cNvPr id="5" name="Rounded Rectangle 4"/>
          <p:cNvSpPr/>
          <p:nvPr/>
        </p:nvSpPr>
        <p:spPr>
          <a:xfrm>
            <a:off x="731520" y="1554480"/>
            <a:ext cx="539496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554480"/>
            <a:ext cx="73152" cy="1143000"/>
          </a:xfrm>
          <a:prstGeom prst="rect">
            <a:avLst/>
          </a:prstGeom>
          <a:solidFill>
            <a:srgbClr val="4F7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691639"/>
            <a:ext cx="1188720" cy="256032"/>
          </a:xfrm>
          <a:prstGeom prst="roundRect">
            <a:avLst/>
          </a:prstGeom>
          <a:solidFill>
            <a:srgbClr val="4F7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691639"/>
            <a:ext cx="1188720" cy="256032"/>
          </a:xfrm>
          <a:prstGeom prst="rect">
            <a:avLst/>
          </a:prstGeom>
          <a:noFill/>
        </p:spPr>
        <p:txBody>
          <a:bodyPr wrap="square">
            <a:spAutoFit/>
          </a:bodyPr>
          <a:lstStyle/>
          <a:p>
            <a:pPr algn="ctr">
              <a:defRPr sz="800" b="1">
                <a:solidFill>
                  <a:srgbClr val="FFFFFF"/>
                </a:solidFill>
                <a:latin typeface="Calibri"/>
              </a:defRPr>
            </a:pPr>
            <a:r>
              <a:t>FRAMEWORK</a:t>
            </a:r>
          </a:p>
        </p:txBody>
      </p:sp>
      <p:sp>
        <p:nvSpPr>
          <p:cNvPr id="9" name="TextBox 8"/>
          <p:cNvSpPr txBox="1"/>
          <p:nvPr/>
        </p:nvSpPr>
        <p:spPr>
          <a:xfrm>
            <a:off x="2286000" y="1664207"/>
            <a:ext cx="3657600" cy="274320"/>
          </a:xfrm>
          <a:prstGeom prst="rect">
            <a:avLst/>
          </a:prstGeom>
          <a:noFill/>
        </p:spPr>
        <p:txBody>
          <a:bodyPr wrap="square">
            <a:spAutoFit/>
          </a:bodyPr>
          <a:lstStyle/>
          <a:p>
            <a:pPr algn="l">
              <a:defRPr sz="1300" b="1">
                <a:solidFill>
                  <a:srgbClr val="0F172A"/>
                </a:solidFill>
                <a:latin typeface="Calibri"/>
              </a:defRPr>
            </a:pPr>
            <a:r>
              <a:t>Flutter 3.38.5</a:t>
            </a:r>
          </a:p>
        </p:txBody>
      </p:sp>
      <p:sp>
        <p:nvSpPr>
          <p:cNvPr id="10" name="TextBox 9"/>
          <p:cNvSpPr txBox="1"/>
          <p:nvPr/>
        </p:nvSpPr>
        <p:spPr>
          <a:xfrm>
            <a:off x="960120" y="2057400"/>
            <a:ext cx="4937760" cy="594360"/>
          </a:xfrm>
          <a:prstGeom prst="rect">
            <a:avLst/>
          </a:prstGeom>
          <a:noFill/>
        </p:spPr>
        <p:txBody>
          <a:bodyPr wrap="square">
            <a:spAutoFit/>
          </a:bodyPr>
          <a:lstStyle/>
          <a:p>
            <a:pPr algn="l">
              <a:defRPr sz="900" b="0">
                <a:solidFill>
                  <a:srgbClr val="64748B"/>
                </a:solidFill>
                <a:latin typeface="Calibri"/>
              </a:defRPr>
            </a:pPr>
            <a:r>
              <a:t>Flutter is Google's open-source UI toolkit for building apps from a single codebase. We chose it because our course is Flutter-based, it works on Android/iOS/Web, and has excellent widget system for building beautiful UIs.</a:t>
            </a:r>
          </a:p>
        </p:txBody>
      </p:sp>
      <p:sp>
        <p:nvSpPr>
          <p:cNvPr id="11" name="Rounded Rectangle 10"/>
          <p:cNvSpPr/>
          <p:nvPr/>
        </p:nvSpPr>
        <p:spPr>
          <a:xfrm>
            <a:off x="6400800" y="1554480"/>
            <a:ext cx="539496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0" y="1554480"/>
            <a:ext cx="73152" cy="1143000"/>
          </a:xfrm>
          <a:prstGeom prst="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29400" y="1691639"/>
            <a:ext cx="1188720" cy="256032"/>
          </a:xfrm>
          <a:prstGeom prst="round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400" y="1691639"/>
            <a:ext cx="1188720" cy="256032"/>
          </a:xfrm>
          <a:prstGeom prst="rect">
            <a:avLst/>
          </a:prstGeom>
          <a:noFill/>
        </p:spPr>
        <p:txBody>
          <a:bodyPr wrap="square">
            <a:spAutoFit/>
          </a:bodyPr>
          <a:lstStyle/>
          <a:p>
            <a:pPr algn="ctr">
              <a:defRPr sz="800" b="1">
                <a:solidFill>
                  <a:srgbClr val="FFFFFF"/>
                </a:solidFill>
                <a:latin typeface="Calibri"/>
              </a:defRPr>
            </a:pPr>
            <a:r>
              <a:t>LANGUAGE</a:t>
            </a:r>
          </a:p>
        </p:txBody>
      </p:sp>
      <p:sp>
        <p:nvSpPr>
          <p:cNvPr id="15" name="TextBox 14"/>
          <p:cNvSpPr txBox="1"/>
          <p:nvPr/>
        </p:nvSpPr>
        <p:spPr>
          <a:xfrm>
            <a:off x="7955279" y="1664207"/>
            <a:ext cx="3657600" cy="274320"/>
          </a:xfrm>
          <a:prstGeom prst="rect">
            <a:avLst/>
          </a:prstGeom>
          <a:noFill/>
        </p:spPr>
        <p:txBody>
          <a:bodyPr wrap="square">
            <a:spAutoFit/>
          </a:bodyPr>
          <a:lstStyle/>
          <a:p>
            <a:pPr algn="l">
              <a:defRPr sz="1300" b="1">
                <a:solidFill>
                  <a:srgbClr val="0F172A"/>
                </a:solidFill>
                <a:latin typeface="Calibri"/>
              </a:defRPr>
            </a:pPr>
            <a:r>
              <a:t>Dart 3.10.4</a:t>
            </a:r>
          </a:p>
        </p:txBody>
      </p:sp>
      <p:sp>
        <p:nvSpPr>
          <p:cNvPr id="16" name="TextBox 15"/>
          <p:cNvSpPr txBox="1"/>
          <p:nvPr/>
        </p:nvSpPr>
        <p:spPr>
          <a:xfrm>
            <a:off x="6629400" y="2057400"/>
            <a:ext cx="4937760" cy="594360"/>
          </a:xfrm>
          <a:prstGeom prst="rect">
            <a:avLst/>
          </a:prstGeom>
          <a:noFill/>
        </p:spPr>
        <p:txBody>
          <a:bodyPr wrap="square">
            <a:spAutoFit/>
          </a:bodyPr>
          <a:lstStyle/>
          <a:p>
            <a:pPr algn="l">
              <a:defRPr sz="900" b="0">
                <a:solidFill>
                  <a:srgbClr val="64748B"/>
                </a:solidFill>
                <a:latin typeface="Calibri"/>
              </a:defRPr>
            </a:pPr>
            <a:r>
              <a:t>Dart is the programming language used with Flutter. It supports async/await for handling operations like image picking, has strong typing for fewer bugs, and compiles to fast native code.</a:t>
            </a:r>
          </a:p>
        </p:txBody>
      </p:sp>
      <p:sp>
        <p:nvSpPr>
          <p:cNvPr id="17" name="Rounded Rectangle 16"/>
          <p:cNvSpPr/>
          <p:nvPr/>
        </p:nvSpPr>
        <p:spPr>
          <a:xfrm>
            <a:off x="731520" y="2834639"/>
            <a:ext cx="539496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2834639"/>
            <a:ext cx="73152" cy="11430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60120" y="2971799"/>
            <a:ext cx="1188720" cy="256032"/>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2971799"/>
            <a:ext cx="1188720" cy="256032"/>
          </a:xfrm>
          <a:prstGeom prst="rect">
            <a:avLst/>
          </a:prstGeom>
          <a:noFill/>
        </p:spPr>
        <p:txBody>
          <a:bodyPr wrap="square">
            <a:spAutoFit/>
          </a:bodyPr>
          <a:lstStyle/>
          <a:p>
            <a:pPr algn="ctr">
              <a:defRPr sz="800" b="1">
                <a:solidFill>
                  <a:srgbClr val="FFFFFF"/>
                </a:solidFill>
                <a:latin typeface="Calibri"/>
              </a:defRPr>
            </a:pPr>
            <a:r>
              <a:t>PACKAGE</a:t>
            </a:r>
          </a:p>
        </p:txBody>
      </p:sp>
      <p:sp>
        <p:nvSpPr>
          <p:cNvPr id="21" name="TextBox 20"/>
          <p:cNvSpPr txBox="1"/>
          <p:nvPr/>
        </p:nvSpPr>
        <p:spPr>
          <a:xfrm>
            <a:off x="2286000" y="2944368"/>
            <a:ext cx="3657600" cy="274320"/>
          </a:xfrm>
          <a:prstGeom prst="rect">
            <a:avLst/>
          </a:prstGeom>
          <a:noFill/>
        </p:spPr>
        <p:txBody>
          <a:bodyPr wrap="square">
            <a:spAutoFit/>
          </a:bodyPr>
          <a:lstStyle/>
          <a:p>
            <a:pPr algn="l">
              <a:defRPr sz="1300" b="1">
                <a:solidFill>
                  <a:srgbClr val="0F172A"/>
                </a:solidFill>
                <a:latin typeface="Calibri"/>
              </a:defRPr>
            </a:pPr>
            <a:r>
              <a:t>image_picker ^1.1.2</a:t>
            </a:r>
          </a:p>
        </p:txBody>
      </p:sp>
      <p:sp>
        <p:nvSpPr>
          <p:cNvPr id="22" name="TextBox 21"/>
          <p:cNvSpPr txBox="1"/>
          <p:nvPr/>
        </p:nvSpPr>
        <p:spPr>
          <a:xfrm>
            <a:off x="960120" y="3337559"/>
            <a:ext cx="4937760" cy="594360"/>
          </a:xfrm>
          <a:prstGeom prst="rect">
            <a:avLst/>
          </a:prstGeom>
          <a:noFill/>
        </p:spPr>
        <p:txBody>
          <a:bodyPr wrap="square">
            <a:spAutoFit/>
          </a:bodyPr>
          <a:lstStyle/>
          <a:p>
            <a:pPr algn="l">
              <a:defRPr sz="900" b="0">
                <a:solidFill>
                  <a:srgbClr val="64748B"/>
                </a:solidFill>
                <a:latin typeface="Calibri"/>
              </a:defRPr>
            </a:pPr>
            <a:r>
              <a:t>This Flutter package allows users to take photos using the camera or pick existing images from their gallery. It works on both Android and web platforms. We use it in the scan screen.</a:t>
            </a:r>
          </a:p>
        </p:txBody>
      </p:sp>
      <p:sp>
        <p:nvSpPr>
          <p:cNvPr id="23" name="Rounded Rectangle 22"/>
          <p:cNvSpPr/>
          <p:nvPr/>
        </p:nvSpPr>
        <p:spPr>
          <a:xfrm>
            <a:off x="6400800" y="2834639"/>
            <a:ext cx="539496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00800" y="2834639"/>
            <a:ext cx="73152" cy="1143000"/>
          </a:xfrm>
          <a:prstGeom prst="rect">
            <a:avLst/>
          </a:prstGeom>
          <a:solidFill>
            <a:srgbClr val="FFB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629400" y="2971799"/>
            <a:ext cx="1188720" cy="256032"/>
          </a:xfrm>
          <a:prstGeom prst="roundRect">
            <a:avLst/>
          </a:prstGeom>
          <a:solidFill>
            <a:srgbClr val="FFB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29400" y="2971799"/>
            <a:ext cx="1188720" cy="256032"/>
          </a:xfrm>
          <a:prstGeom prst="rect">
            <a:avLst/>
          </a:prstGeom>
          <a:noFill/>
        </p:spPr>
        <p:txBody>
          <a:bodyPr wrap="square">
            <a:spAutoFit/>
          </a:bodyPr>
          <a:lstStyle/>
          <a:p>
            <a:pPr algn="ctr">
              <a:defRPr sz="800" b="1">
                <a:solidFill>
                  <a:srgbClr val="FFFFFF"/>
                </a:solidFill>
                <a:latin typeface="Calibri"/>
              </a:defRPr>
            </a:pPr>
            <a:r>
              <a:t>UI SYSTEM</a:t>
            </a:r>
          </a:p>
        </p:txBody>
      </p:sp>
      <p:sp>
        <p:nvSpPr>
          <p:cNvPr id="27" name="TextBox 26"/>
          <p:cNvSpPr txBox="1"/>
          <p:nvPr/>
        </p:nvSpPr>
        <p:spPr>
          <a:xfrm>
            <a:off x="7955279" y="2944368"/>
            <a:ext cx="3657600" cy="274320"/>
          </a:xfrm>
          <a:prstGeom prst="rect">
            <a:avLst/>
          </a:prstGeom>
          <a:noFill/>
        </p:spPr>
        <p:txBody>
          <a:bodyPr wrap="square">
            <a:spAutoFit/>
          </a:bodyPr>
          <a:lstStyle/>
          <a:p>
            <a:pPr algn="l">
              <a:defRPr sz="1300" b="1">
                <a:solidFill>
                  <a:srgbClr val="0F172A"/>
                </a:solidFill>
                <a:latin typeface="Calibri"/>
              </a:defRPr>
            </a:pPr>
            <a:r>
              <a:t>Material Design 3</a:t>
            </a:r>
          </a:p>
        </p:txBody>
      </p:sp>
      <p:sp>
        <p:nvSpPr>
          <p:cNvPr id="28" name="TextBox 27"/>
          <p:cNvSpPr txBox="1"/>
          <p:nvPr/>
        </p:nvSpPr>
        <p:spPr>
          <a:xfrm>
            <a:off x="6629400" y="3337559"/>
            <a:ext cx="4937760" cy="594360"/>
          </a:xfrm>
          <a:prstGeom prst="rect">
            <a:avLst/>
          </a:prstGeom>
          <a:noFill/>
        </p:spPr>
        <p:txBody>
          <a:bodyPr wrap="square">
            <a:spAutoFit/>
          </a:bodyPr>
          <a:lstStyle/>
          <a:p>
            <a:pPr algn="l">
              <a:defRPr sz="900" b="0">
                <a:solidFill>
                  <a:srgbClr val="64748B"/>
                </a:solidFill>
                <a:latin typeface="Calibri"/>
              </a:defRPr>
            </a:pPr>
            <a:r>
              <a:t>Flutter's built-in material design system provides ready-made widgets like BottomNavigationBar, AlertDialog, BottomSheet, Switch, Scaffold, and more. We customized them with our green theme.</a:t>
            </a:r>
          </a:p>
        </p:txBody>
      </p:sp>
      <p:sp>
        <p:nvSpPr>
          <p:cNvPr id="29" name="Rounded Rectangle 28"/>
          <p:cNvSpPr/>
          <p:nvPr/>
        </p:nvSpPr>
        <p:spPr>
          <a:xfrm>
            <a:off x="731520" y="4114800"/>
            <a:ext cx="539496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1520" y="4114800"/>
            <a:ext cx="73152" cy="114300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60120" y="4251960"/>
            <a:ext cx="1188720" cy="256032"/>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0120" y="4251960"/>
            <a:ext cx="1188720" cy="256032"/>
          </a:xfrm>
          <a:prstGeom prst="rect">
            <a:avLst/>
          </a:prstGeom>
          <a:noFill/>
        </p:spPr>
        <p:txBody>
          <a:bodyPr wrap="square">
            <a:spAutoFit/>
          </a:bodyPr>
          <a:lstStyle/>
          <a:p>
            <a:pPr algn="ctr">
              <a:defRPr sz="800" b="1">
                <a:solidFill>
                  <a:srgbClr val="FFFFFF"/>
                </a:solidFill>
                <a:latin typeface="Calibri"/>
              </a:defRPr>
            </a:pPr>
            <a:r>
              <a:t>GRAPHICS</a:t>
            </a:r>
          </a:p>
        </p:txBody>
      </p:sp>
      <p:sp>
        <p:nvSpPr>
          <p:cNvPr id="33" name="TextBox 32"/>
          <p:cNvSpPr txBox="1"/>
          <p:nvPr/>
        </p:nvSpPr>
        <p:spPr>
          <a:xfrm>
            <a:off x="2286000" y="4224528"/>
            <a:ext cx="3657600" cy="274320"/>
          </a:xfrm>
          <a:prstGeom prst="rect">
            <a:avLst/>
          </a:prstGeom>
          <a:noFill/>
        </p:spPr>
        <p:txBody>
          <a:bodyPr wrap="square">
            <a:spAutoFit/>
          </a:bodyPr>
          <a:lstStyle/>
          <a:p>
            <a:pPr algn="l">
              <a:defRPr sz="1300" b="1">
                <a:solidFill>
                  <a:srgbClr val="0F172A"/>
                </a:solidFill>
                <a:latin typeface="Calibri"/>
              </a:defRPr>
            </a:pPr>
            <a:r>
              <a:t>CustomPainter API</a:t>
            </a:r>
          </a:p>
        </p:txBody>
      </p:sp>
      <p:sp>
        <p:nvSpPr>
          <p:cNvPr id="34" name="TextBox 33"/>
          <p:cNvSpPr txBox="1"/>
          <p:nvPr/>
        </p:nvSpPr>
        <p:spPr>
          <a:xfrm>
            <a:off x="960120" y="4617720"/>
            <a:ext cx="4937760" cy="594360"/>
          </a:xfrm>
          <a:prstGeom prst="rect">
            <a:avLst/>
          </a:prstGeom>
          <a:noFill/>
        </p:spPr>
        <p:txBody>
          <a:bodyPr wrap="square">
            <a:spAutoFit/>
          </a:bodyPr>
          <a:lstStyle/>
          <a:p>
            <a:pPr algn="l">
              <a:defRPr sz="900" b="0">
                <a:solidFill>
                  <a:srgbClr val="64748B"/>
                </a:solidFill>
                <a:latin typeface="Calibri"/>
              </a:defRPr>
            </a:pPr>
            <a:r>
              <a:t>Flutter's canvas drawing API. We used it to create the animated score ring on the results screen (a circle that fills up based on the score) and the campus map grid with roads and building blocks.</a:t>
            </a:r>
          </a:p>
        </p:txBody>
      </p:sp>
      <p:sp>
        <p:nvSpPr>
          <p:cNvPr id="35" name="Rounded Rectangle 34"/>
          <p:cNvSpPr/>
          <p:nvPr/>
        </p:nvSpPr>
        <p:spPr>
          <a:xfrm>
            <a:off x="6400800" y="4114800"/>
            <a:ext cx="539496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400800" y="4114800"/>
            <a:ext cx="73152" cy="114300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629400" y="4251960"/>
            <a:ext cx="1188720" cy="256032"/>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29400" y="4251960"/>
            <a:ext cx="1188720" cy="256032"/>
          </a:xfrm>
          <a:prstGeom prst="rect">
            <a:avLst/>
          </a:prstGeom>
          <a:noFill/>
        </p:spPr>
        <p:txBody>
          <a:bodyPr wrap="square">
            <a:spAutoFit/>
          </a:bodyPr>
          <a:lstStyle/>
          <a:p>
            <a:pPr algn="ctr">
              <a:defRPr sz="800" b="1">
                <a:solidFill>
                  <a:srgbClr val="FFFFFF"/>
                </a:solidFill>
                <a:latin typeface="Calibri"/>
              </a:defRPr>
            </a:pPr>
            <a:r>
              <a:t>ANIMATION</a:t>
            </a:r>
          </a:p>
        </p:txBody>
      </p:sp>
      <p:sp>
        <p:nvSpPr>
          <p:cNvPr id="39" name="TextBox 38"/>
          <p:cNvSpPr txBox="1"/>
          <p:nvPr/>
        </p:nvSpPr>
        <p:spPr>
          <a:xfrm>
            <a:off x="7955279" y="4224528"/>
            <a:ext cx="3657600" cy="274320"/>
          </a:xfrm>
          <a:prstGeom prst="rect">
            <a:avLst/>
          </a:prstGeom>
          <a:noFill/>
        </p:spPr>
        <p:txBody>
          <a:bodyPr wrap="square">
            <a:spAutoFit/>
          </a:bodyPr>
          <a:lstStyle/>
          <a:p>
            <a:pPr algn="l">
              <a:defRPr sz="1300" b="1">
                <a:solidFill>
                  <a:srgbClr val="0F172A"/>
                </a:solidFill>
                <a:latin typeface="Calibri"/>
              </a:defRPr>
            </a:pPr>
            <a:r>
              <a:t>AnimationController</a:t>
            </a:r>
          </a:p>
        </p:txBody>
      </p:sp>
      <p:sp>
        <p:nvSpPr>
          <p:cNvPr id="40" name="TextBox 39"/>
          <p:cNvSpPr txBox="1"/>
          <p:nvPr/>
        </p:nvSpPr>
        <p:spPr>
          <a:xfrm>
            <a:off x="6629400" y="4617720"/>
            <a:ext cx="4937760" cy="594360"/>
          </a:xfrm>
          <a:prstGeom prst="rect">
            <a:avLst/>
          </a:prstGeom>
          <a:noFill/>
        </p:spPr>
        <p:txBody>
          <a:bodyPr wrap="square">
            <a:spAutoFit/>
          </a:bodyPr>
          <a:lstStyle/>
          <a:p>
            <a:pPr algn="l">
              <a:defRPr sz="900" b="0">
                <a:solidFill>
                  <a:srgbClr val="64748B"/>
                </a:solidFill>
                <a:latin typeface="Calibri"/>
              </a:defRPr>
            </a:pPr>
            <a:r>
              <a:t>Flutter's animation system. We used it for: (1) Splash screen logo bounce and fade, (2) Score ring filling animation, (3) Staggered card reveal on results screen. Shows advanced Flutter knowledge.</a:t>
            </a:r>
          </a:p>
        </p:txBody>
      </p:sp>
      <p:sp>
        <p:nvSpPr>
          <p:cNvPr id="41" name="Rounded Rectangle 40"/>
          <p:cNvSpPr/>
          <p:nvPr/>
        </p:nvSpPr>
        <p:spPr>
          <a:xfrm>
            <a:off x="731520" y="5394959"/>
            <a:ext cx="539496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31520" y="5394959"/>
            <a:ext cx="73152" cy="1143000"/>
          </a:xfrm>
          <a:prstGeom prst="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960120" y="5532120"/>
            <a:ext cx="1188720" cy="256032"/>
          </a:xfrm>
          <a:prstGeom prst="round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60120" y="5532120"/>
            <a:ext cx="1188720" cy="256032"/>
          </a:xfrm>
          <a:prstGeom prst="rect">
            <a:avLst/>
          </a:prstGeom>
          <a:noFill/>
        </p:spPr>
        <p:txBody>
          <a:bodyPr wrap="square">
            <a:spAutoFit/>
          </a:bodyPr>
          <a:lstStyle/>
          <a:p>
            <a:pPr algn="ctr">
              <a:defRPr sz="800" b="1">
                <a:solidFill>
                  <a:srgbClr val="FFFFFF"/>
                </a:solidFill>
                <a:latin typeface="Calibri"/>
              </a:defRPr>
            </a:pPr>
            <a:r>
              <a:t>AI/ML</a:t>
            </a:r>
          </a:p>
        </p:txBody>
      </p:sp>
      <p:sp>
        <p:nvSpPr>
          <p:cNvPr id="45" name="TextBox 44"/>
          <p:cNvSpPr txBox="1"/>
          <p:nvPr/>
        </p:nvSpPr>
        <p:spPr>
          <a:xfrm>
            <a:off x="2286000" y="5504688"/>
            <a:ext cx="3657600" cy="274320"/>
          </a:xfrm>
          <a:prstGeom prst="rect">
            <a:avLst/>
          </a:prstGeom>
          <a:noFill/>
        </p:spPr>
        <p:txBody>
          <a:bodyPr wrap="square">
            <a:spAutoFit/>
          </a:bodyPr>
          <a:lstStyle/>
          <a:p>
            <a:pPr algn="l">
              <a:defRPr sz="1300" b="1">
                <a:solidFill>
                  <a:srgbClr val="0F172A"/>
                </a:solidFill>
                <a:latin typeface="Calibri"/>
              </a:defRPr>
            </a:pPr>
            <a:r>
              <a:t>Keyword-Based AI Engine</a:t>
            </a:r>
          </a:p>
        </p:txBody>
      </p:sp>
      <p:sp>
        <p:nvSpPr>
          <p:cNvPr id="46" name="TextBox 45"/>
          <p:cNvSpPr txBox="1"/>
          <p:nvPr/>
        </p:nvSpPr>
        <p:spPr>
          <a:xfrm>
            <a:off x="960120" y="5897879"/>
            <a:ext cx="4937760" cy="594360"/>
          </a:xfrm>
          <a:prstGeom prst="rect">
            <a:avLst/>
          </a:prstGeom>
          <a:noFill/>
        </p:spPr>
        <p:txBody>
          <a:bodyPr wrap="square">
            <a:spAutoFit/>
          </a:bodyPr>
          <a:lstStyle/>
          <a:p>
            <a:pPr algn="l">
              <a:defRPr sz="900" b="0">
                <a:solidFill>
                  <a:srgbClr val="64748B"/>
                </a:solidFill>
                <a:latin typeface="Calibri"/>
              </a:defRPr>
            </a:pPr>
            <a:r>
              <a:t>Our custom scoring service that matches user text descriptions to 12+ accessibility categories using keyword analysis. Each category has specific criteria rated as GOOD/WARNING/CRITICAL. Explained in detail on the AI slide.</a:t>
            </a:r>
          </a:p>
        </p:txBody>
      </p:sp>
      <p:sp>
        <p:nvSpPr>
          <p:cNvPr id="47" name="Rounded Rectangle 46"/>
          <p:cNvSpPr/>
          <p:nvPr/>
        </p:nvSpPr>
        <p:spPr>
          <a:xfrm>
            <a:off x="6400800" y="5394959"/>
            <a:ext cx="539496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400800" y="5394959"/>
            <a:ext cx="73152" cy="1143000"/>
          </a:xfrm>
          <a:prstGeom prst="rect">
            <a:avLst/>
          </a:prstGeom>
          <a:solidFill>
            <a:srgbClr val="4F7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629400" y="5532120"/>
            <a:ext cx="1188720" cy="256032"/>
          </a:xfrm>
          <a:prstGeom prst="roundRect">
            <a:avLst/>
          </a:prstGeom>
          <a:solidFill>
            <a:srgbClr val="4F7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629400" y="5532120"/>
            <a:ext cx="1188720" cy="256032"/>
          </a:xfrm>
          <a:prstGeom prst="rect">
            <a:avLst/>
          </a:prstGeom>
          <a:noFill/>
        </p:spPr>
        <p:txBody>
          <a:bodyPr wrap="square">
            <a:spAutoFit/>
          </a:bodyPr>
          <a:lstStyle/>
          <a:p>
            <a:pPr algn="ctr">
              <a:defRPr sz="800" b="1">
                <a:solidFill>
                  <a:srgbClr val="FFFFFF"/>
                </a:solidFill>
                <a:latin typeface="Calibri"/>
              </a:defRPr>
            </a:pPr>
            <a:r>
              <a:t>DEV TOOLS</a:t>
            </a:r>
          </a:p>
        </p:txBody>
      </p:sp>
      <p:sp>
        <p:nvSpPr>
          <p:cNvPr id="51" name="TextBox 50"/>
          <p:cNvSpPr txBox="1"/>
          <p:nvPr/>
        </p:nvSpPr>
        <p:spPr>
          <a:xfrm>
            <a:off x="7955279" y="5504688"/>
            <a:ext cx="3657600" cy="274320"/>
          </a:xfrm>
          <a:prstGeom prst="rect">
            <a:avLst/>
          </a:prstGeom>
          <a:noFill/>
        </p:spPr>
        <p:txBody>
          <a:bodyPr wrap="square">
            <a:spAutoFit/>
          </a:bodyPr>
          <a:lstStyle/>
          <a:p>
            <a:pPr algn="l">
              <a:defRPr sz="1300" b="1">
                <a:solidFill>
                  <a:srgbClr val="0F172A"/>
                </a:solidFill>
                <a:latin typeface="Calibri"/>
              </a:defRPr>
            </a:pPr>
            <a:r>
              <a:t>VS Code + Chrome</a:t>
            </a:r>
          </a:p>
        </p:txBody>
      </p:sp>
      <p:sp>
        <p:nvSpPr>
          <p:cNvPr id="52" name="TextBox 51"/>
          <p:cNvSpPr txBox="1"/>
          <p:nvPr/>
        </p:nvSpPr>
        <p:spPr>
          <a:xfrm>
            <a:off x="6629400" y="5897879"/>
            <a:ext cx="4937760" cy="594360"/>
          </a:xfrm>
          <a:prstGeom prst="rect">
            <a:avLst/>
          </a:prstGeom>
          <a:noFill/>
        </p:spPr>
        <p:txBody>
          <a:bodyPr wrap="square">
            <a:spAutoFit/>
          </a:bodyPr>
          <a:lstStyle/>
          <a:p>
            <a:pPr algn="l">
              <a:defRPr sz="900" b="0">
                <a:solidFill>
                  <a:srgbClr val="64748B"/>
                </a:solidFill>
                <a:latin typeface="Calibri"/>
              </a:defRPr>
            </a:pPr>
            <a:r>
              <a:t>We developed in VS Code with Flutter/Dart extensions and tested on Chrome browser for fast hot reload. The Android emulator (Pixel 8) was available for native testing.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F2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640080"/>
          </a:xfrm>
          <a:prstGeom prst="rect">
            <a:avLst/>
          </a:prstGeom>
          <a:noFill/>
        </p:spPr>
        <p:txBody>
          <a:bodyPr wrap="square">
            <a:spAutoFit/>
          </a:bodyPr>
          <a:lstStyle/>
          <a:p>
            <a:pPr algn="l">
              <a:defRPr sz="3600" b="1">
                <a:solidFill>
                  <a:srgbClr val="FFFFFF"/>
                </a:solidFill>
                <a:latin typeface="Calibri"/>
              </a:defRPr>
            </a:pPr>
            <a:r>
              <a:t>Project Structure</a:t>
            </a:r>
          </a:p>
        </p:txBody>
      </p:sp>
      <p:sp>
        <p:nvSpPr>
          <p:cNvPr id="4" name="TextBox 3"/>
          <p:cNvSpPr txBox="1"/>
          <p:nvPr/>
        </p:nvSpPr>
        <p:spPr>
          <a:xfrm>
            <a:off x="731520" y="914400"/>
            <a:ext cx="9144000" cy="457200"/>
          </a:xfrm>
          <a:prstGeom prst="rect">
            <a:avLst/>
          </a:prstGeom>
          <a:noFill/>
        </p:spPr>
        <p:txBody>
          <a:bodyPr wrap="square">
            <a:spAutoFit/>
          </a:bodyPr>
          <a:lstStyle/>
          <a:p>
            <a:pPr algn="l">
              <a:defRPr sz="1500" b="0">
                <a:solidFill>
                  <a:srgbClr val="94A3B8"/>
                </a:solidFill>
                <a:latin typeface="Calibri"/>
              </a:defRPr>
            </a:pPr>
            <a:r>
              <a:t>How we organized the code — clean, scalable, and professional</a:t>
            </a:r>
          </a:p>
        </p:txBody>
      </p:sp>
      <p:sp>
        <p:nvSpPr>
          <p:cNvPr id="5" name="Rounded Rectangle 4"/>
          <p:cNvSpPr/>
          <p:nvPr/>
        </p:nvSpPr>
        <p:spPr>
          <a:xfrm>
            <a:off x="731520" y="1463040"/>
            <a:ext cx="4572000" cy="502920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4023360" cy="365760"/>
          </a:xfrm>
          <a:prstGeom prst="rect">
            <a:avLst/>
          </a:prstGeom>
          <a:noFill/>
        </p:spPr>
        <p:txBody>
          <a:bodyPr wrap="square">
            <a:spAutoFit/>
          </a:bodyPr>
          <a:lstStyle/>
          <a:p>
            <a:pPr algn="l">
              <a:defRPr sz="1300" b="1">
                <a:solidFill>
                  <a:srgbClr val="00D261"/>
                </a:solidFill>
                <a:latin typeface="Consolas"/>
              </a:defRPr>
            </a:pPr>
            <a:r>
              <a:t>wheel_scan/lib/</a:t>
            </a:r>
          </a:p>
        </p:txBody>
      </p:sp>
      <p:sp>
        <p:nvSpPr>
          <p:cNvPr id="7" name="TextBox 6"/>
          <p:cNvSpPr txBox="1"/>
          <p:nvPr/>
        </p:nvSpPr>
        <p:spPr>
          <a:xfrm>
            <a:off x="1188720" y="2011680"/>
            <a:ext cx="3657600" cy="201168"/>
          </a:xfrm>
          <a:prstGeom prst="rect">
            <a:avLst/>
          </a:prstGeom>
          <a:noFill/>
        </p:spPr>
        <p:txBody>
          <a:bodyPr wrap="square">
            <a:spAutoFit/>
          </a:bodyPr>
          <a:lstStyle/>
          <a:p>
            <a:pPr algn="l">
              <a:defRPr sz="900" b="0">
                <a:solidFill>
                  <a:srgbClr val="4F7DF7"/>
                </a:solidFill>
                <a:latin typeface="Consolas"/>
              </a:defRPr>
            </a:pPr>
            <a:r>
              <a:t>main.dart</a:t>
            </a:r>
          </a:p>
        </p:txBody>
      </p:sp>
      <p:sp>
        <p:nvSpPr>
          <p:cNvPr id="8" name="TextBox 7"/>
          <p:cNvSpPr txBox="1"/>
          <p:nvPr/>
        </p:nvSpPr>
        <p:spPr>
          <a:xfrm>
            <a:off x="1188720" y="2249424"/>
            <a:ext cx="3657600" cy="201168"/>
          </a:xfrm>
          <a:prstGeom prst="rect">
            <a:avLst/>
          </a:prstGeom>
          <a:noFill/>
        </p:spPr>
        <p:txBody>
          <a:bodyPr wrap="square">
            <a:spAutoFit/>
          </a:bodyPr>
          <a:lstStyle/>
          <a:p>
            <a:pPr algn="l">
              <a:defRPr sz="900" b="1">
                <a:solidFill>
                  <a:srgbClr val="00D261"/>
                </a:solidFill>
                <a:latin typeface="Consolas"/>
              </a:defRPr>
            </a:pPr>
            <a:r>
              <a:t>config/</a:t>
            </a:r>
          </a:p>
        </p:txBody>
      </p:sp>
      <p:sp>
        <p:nvSpPr>
          <p:cNvPr id="9" name="TextBox 8"/>
          <p:cNvSpPr txBox="1"/>
          <p:nvPr/>
        </p:nvSpPr>
        <p:spPr>
          <a:xfrm>
            <a:off x="1188720" y="2487168"/>
            <a:ext cx="3657600" cy="201168"/>
          </a:xfrm>
          <a:prstGeom prst="rect">
            <a:avLst/>
          </a:prstGeom>
          <a:noFill/>
        </p:spPr>
        <p:txBody>
          <a:bodyPr wrap="square">
            <a:spAutoFit/>
          </a:bodyPr>
          <a:lstStyle/>
          <a:p>
            <a:pPr algn="l">
              <a:defRPr sz="900" b="0">
                <a:solidFill>
                  <a:srgbClr val="94A3B8"/>
                </a:solidFill>
                <a:latin typeface="Consolas"/>
              </a:defRPr>
            </a:pPr>
            <a:r>
              <a:t>  theme.dart</a:t>
            </a:r>
          </a:p>
        </p:txBody>
      </p:sp>
      <p:sp>
        <p:nvSpPr>
          <p:cNvPr id="10" name="TextBox 9"/>
          <p:cNvSpPr txBox="1"/>
          <p:nvPr/>
        </p:nvSpPr>
        <p:spPr>
          <a:xfrm>
            <a:off x="1188720" y="2724911"/>
            <a:ext cx="3657600" cy="201168"/>
          </a:xfrm>
          <a:prstGeom prst="rect">
            <a:avLst/>
          </a:prstGeom>
          <a:noFill/>
        </p:spPr>
        <p:txBody>
          <a:bodyPr wrap="square">
            <a:spAutoFit/>
          </a:bodyPr>
          <a:lstStyle/>
          <a:p>
            <a:pPr algn="l">
              <a:defRPr sz="900" b="1">
                <a:solidFill>
                  <a:srgbClr val="00D261"/>
                </a:solidFill>
                <a:latin typeface="Consolas"/>
              </a:defRPr>
            </a:pPr>
            <a:r>
              <a:t>models/</a:t>
            </a:r>
          </a:p>
        </p:txBody>
      </p:sp>
      <p:sp>
        <p:nvSpPr>
          <p:cNvPr id="11" name="TextBox 10"/>
          <p:cNvSpPr txBox="1"/>
          <p:nvPr/>
        </p:nvSpPr>
        <p:spPr>
          <a:xfrm>
            <a:off x="1188720" y="2962655"/>
            <a:ext cx="3657600" cy="201168"/>
          </a:xfrm>
          <a:prstGeom prst="rect">
            <a:avLst/>
          </a:prstGeom>
          <a:noFill/>
        </p:spPr>
        <p:txBody>
          <a:bodyPr wrap="square">
            <a:spAutoFit/>
          </a:bodyPr>
          <a:lstStyle/>
          <a:p>
            <a:pPr algn="l">
              <a:defRPr sz="900" b="0">
                <a:solidFill>
                  <a:srgbClr val="94A3B8"/>
                </a:solidFill>
                <a:latin typeface="Consolas"/>
              </a:defRPr>
            </a:pPr>
            <a:r>
              <a:t>  audit_model.dart</a:t>
            </a:r>
          </a:p>
        </p:txBody>
      </p:sp>
      <p:sp>
        <p:nvSpPr>
          <p:cNvPr id="12" name="TextBox 11"/>
          <p:cNvSpPr txBox="1"/>
          <p:nvPr/>
        </p:nvSpPr>
        <p:spPr>
          <a:xfrm>
            <a:off x="1188720" y="3200399"/>
            <a:ext cx="3657600" cy="201168"/>
          </a:xfrm>
          <a:prstGeom prst="rect">
            <a:avLst/>
          </a:prstGeom>
          <a:noFill/>
        </p:spPr>
        <p:txBody>
          <a:bodyPr wrap="square">
            <a:spAutoFit/>
          </a:bodyPr>
          <a:lstStyle/>
          <a:p>
            <a:pPr algn="l">
              <a:defRPr sz="900" b="1">
                <a:solidFill>
                  <a:srgbClr val="00D261"/>
                </a:solidFill>
                <a:latin typeface="Consolas"/>
              </a:defRPr>
            </a:pPr>
            <a:r>
              <a:t>screens/</a:t>
            </a:r>
          </a:p>
        </p:txBody>
      </p:sp>
      <p:sp>
        <p:nvSpPr>
          <p:cNvPr id="13" name="TextBox 12"/>
          <p:cNvSpPr txBox="1"/>
          <p:nvPr/>
        </p:nvSpPr>
        <p:spPr>
          <a:xfrm>
            <a:off x="1188720" y="3438143"/>
            <a:ext cx="3657600" cy="201168"/>
          </a:xfrm>
          <a:prstGeom prst="rect">
            <a:avLst/>
          </a:prstGeom>
          <a:noFill/>
        </p:spPr>
        <p:txBody>
          <a:bodyPr wrap="square">
            <a:spAutoFit/>
          </a:bodyPr>
          <a:lstStyle/>
          <a:p>
            <a:pPr algn="l">
              <a:defRPr sz="900" b="0">
                <a:solidFill>
                  <a:srgbClr val="94A3B8"/>
                </a:solidFill>
                <a:latin typeface="Consolas"/>
              </a:defRPr>
            </a:pPr>
            <a:r>
              <a:t>  splash_screen.dart</a:t>
            </a:r>
          </a:p>
        </p:txBody>
      </p:sp>
      <p:sp>
        <p:nvSpPr>
          <p:cNvPr id="14" name="TextBox 13"/>
          <p:cNvSpPr txBox="1"/>
          <p:nvPr/>
        </p:nvSpPr>
        <p:spPr>
          <a:xfrm>
            <a:off x="1188720" y="3675887"/>
            <a:ext cx="3657600" cy="201168"/>
          </a:xfrm>
          <a:prstGeom prst="rect">
            <a:avLst/>
          </a:prstGeom>
          <a:noFill/>
        </p:spPr>
        <p:txBody>
          <a:bodyPr wrap="square">
            <a:spAutoFit/>
          </a:bodyPr>
          <a:lstStyle/>
          <a:p>
            <a:pPr algn="l">
              <a:defRPr sz="900" b="0">
                <a:solidFill>
                  <a:srgbClr val="94A3B8"/>
                </a:solidFill>
                <a:latin typeface="Consolas"/>
              </a:defRPr>
            </a:pPr>
            <a:r>
              <a:t>  home_screen.dart</a:t>
            </a:r>
          </a:p>
        </p:txBody>
      </p:sp>
      <p:sp>
        <p:nvSpPr>
          <p:cNvPr id="15" name="TextBox 14"/>
          <p:cNvSpPr txBox="1"/>
          <p:nvPr/>
        </p:nvSpPr>
        <p:spPr>
          <a:xfrm>
            <a:off x="1188720" y="3913631"/>
            <a:ext cx="3657600" cy="201168"/>
          </a:xfrm>
          <a:prstGeom prst="rect">
            <a:avLst/>
          </a:prstGeom>
          <a:noFill/>
        </p:spPr>
        <p:txBody>
          <a:bodyPr wrap="square">
            <a:spAutoFit/>
          </a:bodyPr>
          <a:lstStyle/>
          <a:p>
            <a:pPr algn="l">
              <a:defRPr sz="900" b="0">
                <a:solidFill>
                  <a:srgbClr val="94A3B8"/>
                </a:solidFill>
                <a:latin typeface="Consolas"/>
              </a:defRPr>
            </a:pPr>
            <a:r>
              <a:t>  scan_screen.dart</a:t>
            </a:r>
          </a:p>
        </p:txBody>
      </p:sp>
      <p:sp>
        <p:nvSpPr>
          <p:cNvPr id="16" name="TextBox 15"/>
          <p:cNvSpPr txBox="1"/>
          <p:nvPr/>
        </p:nvSpPr>
        <p:spPr>
          <a:xfrm>
            <a:off x="1188720" y="4151375"/>
            <a:ext cx="3657600" cy="201168"/>
          </a:xfrm>
          <a:prstGeom prst="rect">
            <a:avLst/>
          </a:prstGeom>
          <a:noFill/>
        </p:spPr>
        <p:txBody>
          <a:bodyPr wrap="square">
            <a:spAutoFit/>
          </a:bodyPr>
          <a:lstStyle/>
          <a:p>
            <a:pPr algn="l">
              <a:defRPr sz="900" b="0">
                <a:solidFill>
                  <a:srgbClr val="94A3B8"/>
                </a:solidFill>
                <a:latin typeface="Consolas"/>
              </a:defRPr>
            </a:pPr>
            <a:r>
              <a:t>  result_screen.dart</a:t>
            </a:r>
          </a:p>
        </p:txBody>
      </p:sp>
      <p:sp>
        <p:nvSpPr>
          <p:cNvPr id="17" name="TextBox 16"/>
          <p:cNvSpPr txBox="1"/>
          <p:nvPr/>
        </p:nvSpPr>
        <p:spPr>
          <a:xfrm>
            <a:off x="1188720" y="4389119"/>
            <a:ext cx="3657600" cy="201168"/>
          </a:xfrm>
          <a:prstGeom prst="rect">
            <a:avLst/>
          </a:prstGeom>
          <a:noFill/>
        </p:spPr>
        <p:txBody>
          <a:bodyPr wrap="square">
            <a:spAutoFit/>
          </a:bodyPr>
          <a:lstStyle/>
          <a:p>
            <a:pPr algn="l">
              <a:defRPr sz="900" b="0">
                <a:solidFill>
                  <a:srgbClr val="94A3B8"/>
                </a:solidFill>
                <a:latin typeface="Consolas"/>
              </a:defRPr>
            </a:pPr>
            <a:r>
              <a:t>  map_screen.dart</a:t>
            </a:r>
          </a:p>
        </p:txBody>
      </p:sp>
      <p:sp>
        <p:nvSpPr>
          <p:cNvPr id="18" name="TextBox 17"/>
          <p:cNvSpPr txBox="1"/>
          <p:nvPr/>
        </p:nvSpPr>
        <p:spPr>
          <a:xfrm>
            <a:off x="1188720" y="4626863"/>
            <a:ext cx="3657600" cy="201168"/>
          </a:xfrm>
          <a:prstGeom prst="rect">
            <a:avLst/>
          </a:prstGeom>
          <a:noFill/>
        </p:spPr>
        <p:txBody>
          <a:bodyPr wrap="square">
            <a:spAutoFit/>
          </a:bodyPr>
          <a:lstStyle/>
          <a:p>
            <a:pPr algn="l">
              <a:defRPr sz="900" b="0">
                <a:solidFill>
                  <a:srgbClr val="94A3B8"/>
                </a:solidFill>
                <a:latin typeface="Consolas"/>
              </a:defRPr>
            </a:pPr>
            <a:r>
              <a:t>  feed_screen.dart</a:t>
            </a:r>
          </a:p>
        </p:txBody>
      </p:sp>
      <p:sp>
        <p:nvSpPr>
          <p:cNvPr id="19" name="TextBox 18"/>
          <p:cNvSpPr txBox="1"/>
          <p:nvPr/>
        </p:nvSpPr>
        <p:spPr>
          <a:xfrm>
            <a:off x="1188720" y="4864607"/>
            <a:ext cx="3657600" cy="201168"/>
          </a:xfrm>
          <a:prstGeom prst="rect">
            <a:avLst/>
          </a:prstGeom>
          <a:noFill/>
        </p:spPr>
        <p:txBody>
          <a:bodyPr wrap="square">
            <a:spAutoFit/>
          </a:bodyPr>
          <a:lstStyle/>
          <a:p>
            <a:pPr algn="l">
              <a:defRPr sz="900" b="0">
                <a:solidFill>
                  <a:srgbClr val="94A3B8"/>
                </a:solidFill>
                <a:latin typeface="Consolas"/>
              </a:defRPr>
            </a:pPr>
            <a:r>
              <a:t>  profile_screen.dart</a:t>
            </a:r>
          </a:p>
        </p:txBody>
      </p:sp>
      <p:sp>
        <p:nvSpPr>
          <p:cNvPr id="20" name="TextBox 19"/>
          <p:cNvSpPr txBox="1"/>
          <p:nvPr/>
        </p:nvSpPr>
        <p:spPr>
          <a:xfrm>
            <a:off x="1188720" y="5102351"/>
            <a:ext cx="3657600" cy="201168"/>
          </a:xfrm>
          <a:prstGeom prst="rect">
            <a:avLst/>
          </a:prstGeom>
          <a:noFill/>
        </p:spPr>
        <p:txBody>
          <a:bodyPr wrap="square">
            <a:spAutoFit/>
          </a:bodyPr>
          <a:lstStyle/>
          <a:p>
            <a:pPr algn="l">
              <a:defRPr sz="900" b="1">
                <a:solidFill>
                  <a:srgbClr val="00D261"/>
                </a:solidFill>
                <a:latin typeface="Consolas"/>
              </a:defRPr>
            </a:pPr>
            <a:r>
              <a:t>services/</a:t>
            </a:r>
          </a:p>
        </p:txBody>
      </p:sp>
      <p:sp>
        <p:nvSpPr>
          <p:cNvPr id="21" name="TextBox 20"/>
          <p:cNvSpPr txBox="1"/>
          <p:nvPr/>
        </p:nvSpPr>
        <p:spPr>
          <a:xfrm>
            <a:off x="1188720" y="5340095"/>
            <a:ext cx="3657600" cy="201168"/>
          </a:xfrm>
          <a:prstGeom prst="rect">
            <a:avLst/>
          </a:prstGeom>
          <a:noFill/>
        </p:spPr>
        <p:txBody>
          <a:bodyPr wrap="square">
            <a:spAutoFit/>
          </a:bodyPr>
          <a:lstStyle/>
          <a:p>
            <a:pPr algn="l">
              <a:defRPr sz="900" b="0">
                <a:solidFill>
                  <a:srgbClr val="94A3B8"/>
                </a:solidFill>
                <a:latin typeface="Consolas"/>
              </a:defRPr>
            </a:pPr>
            <a:r>
              <a:t>  scoring_service.dart</a:t>
            </a:r>
          </a:p>
        </p:txBody>
      </p:sp>
      <p:sp>
        <p:nvSpPr>
          <p:cNvPr id="22" name="TextBox 21"/>
          <p:cNvSpPr txBox="1"/>
          <p:nvPr/>
        </p:nvSpPr>
        <p:spPr>
          <a:xfrm>
            <a:off x="1188720" y="5577839"/>
            <a:ext cx="3657600" cy="201168"/>
          </a:xfrm>
          <a:prstGeom prst="rect">
            <a:avLst/>
          </a:prstGeom>
          <a:noFill/>
        </p:spPr>
        <p:txBody>
          <a:bodyPr wrap="square">
            <a:spAutoFit/>
          </a:bodyPr>
          <a:lstStyle/>
          <a:p>
            <a:pPr algn="l">
              <a:defRPr sz="900" b="1">
                <a:solidFill>
                  <a:srgbClr val="00D261"/>
                </a:solidFill>
                <a:latin typeface="Consolas"/>
              </a:defRPr>
            </a:pPr>
            <a:r>
              <a:t>widgets/</a:t>
            </a:r>
          </a:p>
        </p:txBody>
      </p:sp>
      <p:sp>
        <p:nvSpPr>
          <p:cNvPr id="23" name="TextBox 22"/>
          <p:cNvSpPr txBox="1"/>
          <p:nvPr/>
        </p:nvSpPr>
        <p:spPr>
          <a:xfrm>
            <a:off x="1188720" y="5815583"/>
            <a:ext cx="3657600" cy="201168"/>
          </a:xfrm>
          <a:prstGeom prst="rect">
            <a:avLst/>
          </a:prstGeom>
          <a:noFill/>
        </p:spPr>
        <p:txBody>
          <a:bodyPr wrap="square">
            <a:spAutoFit/>
          </a:bodyPr>
          <a:lstStyle/>
          <a:p>
            <a:pPr algn="l">
              <a:defRPr sz="900" b="0">
                <a:solidFill>
                  <a:srgbClr val="94A3B8"/>
                </a:solidFill>
                <a:latin typeface="Consolas"/>
              </a:defRPr>
            </a:pPr>
            <a:r>
              <a:t>  score_gauge.dart</a:t>
            </a:r>
          </a:p>
        </p:txBody>
      </p:sp>
      <p:sp>
        <p:nvSpPr>
          <p:cNvPr id="24" name="TextBox 23"/>
          <p:cNvSpPr txBox="1"/>
          <p:nvPr/>
        </p:nvSpPr>
        <p:spPr>
          <a:xfrm>
            <a:off x="5669280" y="1463040"/>
            <a:ext cx="5943600" cy="365760"/>
          </a:xfrm>
          <a:prstGeom prst="rect">
            <a:avLst/>
          </a:prstGeom>
          <a:noFill/>
        </p:spPr>
        <p:txBody>
          <a:bodyPr wrap="square">
            <a:spAutoFit/>
          </a:bodyPr>
          <a:lstStyle/>
          <a:p>
            <a:pPr algn="l">
              <a:defRPr sz="1600" b="1">
                <a:solidFill>
                  <a:srgbClr val="00D261"/>
                </a:solidFill>
                <a:latin typeface="Calibri"/>
              </a:defRPr>
            </a:pPr>
            <a:r>
              <a:t>What Each Folder Does &amp; Why</a:t>
            </a:r>
          </a:p>
        </p:txBody>
      </p:sp>
      <p:sp>
        <p:nvSpPr>
          <p:cNvPr id="25" name="Rounded Rectangle 24"/>
          <p:cNvSpPr/>
          <p:nvPr/>
        </p:nvSpPr>
        <p:spPr>
          <a:xfrm>
            <a:off x="5669280" y="1874519"/>
            <a:ext cx="5943600" cy="77724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0" y="1920239"/>
            <a:ext cx="5486400" cy="228600"/>
          </a:xfrm>
          <a:prstGeom prst="rect">
            <a:avLst/>
          </a:prstGeom>
          <a:noFill/>
        </p:spPr>
        <p:txBody>
          <a:bodyPr wrap="square">
            <a:spAutoFit/>
          </a:bodyPr>
          <a:lstStyle/>
          <a:p>
            <a:pPr algn="l">
              <a:defRPr sz="1100" b="1">
                <a:solidFill>
                  <a:srgbClr val="00D261"/>
                </a:solidFill>
                <a:latin typeface="Calibri"/>
              </a:defRPr>
            </a:pPr>
            <a:r>
              <a:t>main.dart — App Entry Point</a:t>
            </a:r>
          </a:p>
        </p:txBody>
      </p:sp>
      <p:sp>
        <p:nvSpPr>
          <p:cNvPr id="27" name="TextBox 26"/>
          <p:cNvSpPr txBox="1"/>
          <p:nvPr/>
        </p:nvSpPr>
        <p:spPr>
          <a:xfrm>
            <a:off x="5943600" y="2167127"/>
            <a:ext cx="5486400" cy="457200"/>
          </a:xfrm>
          <a:prstGeom prst="rect">
            <a:avLst/>
          </a:prstGeom>
          <a:noFill/>
        </p:spPr>
        <p:txBody>
          <a:bodyPr wrap="square">
            <a:spAutoFit/>
          </a:bodyPr>
          <a:lstStyle/>
          <a:p>
            <a:pPr algn="l">
              <a:defRPr sz="850" b="0">
                <a:solidFill>
                  <a:srgbClr val="94A3B8"/>
                </a:solidFill>
                <a:latin typeface="Calibri"/>
              </a:defRPr>
            </a:pPr>
            <a:r>
              <a:t>This is the first file that runs when the app starts. It creates the MaterialApp, applies our custom green theme, and shows the SplashScreen. It also contains MainNavigation which controls the bottom tab bar and switches between all 5 main screens.</a:t>
            </a:r>
          </a:p>
        </p:txBody>
      </p:sp>
      <p:sp>
        <p:nvSpPr>
          <p:cNvPr id="28" name="Rounded Rectangle 27"/>
          <p:cNvSpPr/>
          <p:nvPr/>
        </p:nvSpPr>
        <p:spPr>
          <a:xfrm>
            <a:off x="5669280" y="2715768"/>
            <a:ext cx="5943600" cy="77724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0" y="2761487"/>
            <a:ext cx="5486400" cy="228600"/>
          </a:xfrm>
          <a:prstGeom prst="rect">
            <a:avLst/>
          </a:prstGeom>
          <a:noFill/>
        </p:spPr>
        <p:txBody>
          <a:bodyPr wrap="square">
            <a:spAutoFit/>
          </a:bodyPr>
          <a:lstStyle/>
          <a:p>
            <a:pPr algn="l">
              <a:defRPr sz="1100" b="1">
                <a:solidFill>
                  <a:srgbClr val="00D261"/>
                </a:solidFill>
                <a:latin typeface="Calibri"/>
              </a:defRPr>
            </a:pPr>
            <a:r>
              <a:t>config/ — App Configuration</a:t>
            </a:r>
          </a:p>
        </p:txBody>
      </p:sp>
      <p:sp>
        <p:nvSpPr>
          <p:cNvPr id="30" name="TextBox 29"/>
          <p:cNvSpPr txBox="1"/>
          <p:nvPr/>
        </p:nvSpPr>
        <p:spPr>
          <a:xfrm>
            <a:off x="5943600" y="3008375"/>
            <a:ext cx="5486400" cy="457200"/>
          </a:xfrm>
          <a:prstGeom prst="rect">
            <a:avLst/>
          </a:prstGeom>
          <a:noFill/>
        </p:spPr>
        <p:txBody>
          <a:bodyPr wrap="square">
            <a:spAutoFit/>
          </a:bodyPr>
          <a:lstStyle/>
          <a:p>
            <a:pPr algn="l">
              <a:defRPr sz="850" b="0">
                <a:solidFill>
                  <a:srgbClr val="94A3B8"/>
                </a:solidFill>
                <a:latin typeface="Calibri"/>
              </a:defRPr>
            </a:pPr>
            <a:r>
              <a:t>Contains theme.dart which defines ALL colors (primary green, accent blue, danger red, warning orange), text styles (heading, body, caption), gradients (hero, splash, shimmer), and reusable card decorations. Every screen imports colors from here so the app looks consistent.</a:t>
            </a:r>
          </a:p>
        </p:txBody>
      </p:sp>
      <p:sp>
        <p:nvSpPr>
          <p:cNvPr id="31" name="Rounded Rectangle 30"/>
          <p:cNvSpPr/>
          <p:nvPr/>
        </p:nvSpPr>
        <p:spPr>
          <a:xfrm>
            <a:off x="5669280" y="3557015"/>
            <a:ext cx="5943600" cy="77724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43600" y="3602735"/>
            <a:ext cx="5486400" cy="228600"/>
          </a:xfrm>
          <a:prstGeom prst="rect">
            <a:avLst/>
          </a:prstGeom>
          <a:noFill/>
        </p:spPr>
        <p:txBody>
          <a:bodyPr wrap="square">
            <a:spAutoFit/>
          </a:bodyPr>
          <a:lstStyle/>
          <a:p>
            <a:pPr algn="l">
              <a:defRPr sz="1100" b="1">
                <a:solidFill>
                  <a:srgbClr val="00D261"/>
                </a:solidFill>
                <a:latin typeface="Calibri"/>
              </a:defRPr>
            </a:pPr>
            <a:r>
              <a:t>models/ — Data Structures</a:t>
            </a:r>
          </a:p>
        </p:txBody>
      </p:sp>
      <p:sp>
        <p:nvSpPr>
          <p:cNvPr id="33" name="TextBox 32"/>
          <p:cNvSpPr txBox="1"/>
          <p:nvPr/>
        </p:nvSpPr>
        <p:spPr>
          <a:xfrm>
            <a:off x="5943600" y="3849624"/>
            <a:ext cx="5486400" cy="457200"/>
          </a:xfrm>
          <a:prstGeom prst="rect">
            <a:avLst/>
          </a:prstGeom>
          <a:noFill/>
        </p:spPr>
        <p:txBody>
          <a:bodyPr wrap="square">
            <a:spAutoFit/>
          </a:bodyPr>
          <a:lstStyle/>
          <a:p>
            <a:pPr algn="l">
              <a:defRPr sz="850" b="0">
                <a:solidFill>
                  <a:srgbClr val="94A3B8"/>
                </a:solidFill>
                <a:latin typeface="Calibri"/>
              </a:defRPr>
            </a:pPr>
            <a:r>
              <a:t>Contains audit_model.dart which defines two classes: AuditResult (spaceType, overallScore, issues, imagePath, timestamp, locationName) and AuditIssue (title, description, severity, recommendation). These are the shapes of our data.</a:t>
            </a:r>
          </a:p>
        </p:txBody>
      </p:sp>
      <p:sp>
        <p:nvSpPr>
          <p:cNvPr id="34" name="Rounded Rectangle 33"/>
          <p:cNvSpPr/>
          <p:nvPr/>
        </p:nvSpPr>
        <p:spPr>
          <a:xfrm>
            <a:off x="5669280" y="4398264"/>
            <a:ext cx="5943600" cy="77724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43600" y="4443983"/>
            <a:ext cx="5486400" cy="228600"/>
          </a:xfrm>
          <a:prstGeom prst="rect">
            <a:avLst/>
          </a:prstGeom>
          <a:noFill/>
        </p:spPr>
        <p:txBody>
          <a:bodyPr wrap="square">
            <a:spAutoFit/>
          </a:bodyPr>
          <a:lstStyle/>
          <a:p>
            <a:pPr algn="l">
              <a:defRPr sz="1100" b="1">
                <a:solidFill>
                  <a:srgbClr val="00D261"/>
                </a:solidFill>
                <a:latin typeface="Calibri"/>
              </a:defRPr>
            </a:pPr>
            <a:r>
              <a:t>screens/ — All App Pages</a:t>
            </a:r>
          </a:p>
        </p:txBody>
      </p:sp>
      <p:sp>
        <p:nvSpPr>
          <p:cNvPr id="36" name="TextBox 35"/>
          <p:cNvSpPr txBox="1"/>
          <p:nvPr/>
        </p:nvSpPr>
        <p:spPr>
          <a:xfrm>
            <a:off x="5943600" y="4690872"/>
            <a:ext cx="5486400" cy="457200"/>
          </a:xfrm>
          <a:prstGeom prst="rect">
            <a:avLst/>
          </a:prstGeom>
          <a:noFill/>
        </p:spPr>
        <p:txBody>
          <a:bodyPr wrap="square">
            <a:spAutoFit/>
          </a:bodyPr>
          <a:lstStyle/>
          <a:p>
            <a:pPr algn="l">
              <a:defRPr sz="850" b="0">
                <a:solidFill>
                  <a:srgbClr val="94A3B8"/>
                </a:solidFill>
                <a:latin typeface="Calibri"/>
              </a:defRPr>
            </a:pPr>
            <a:r>
              <a:t>Contains 7 screen files, one for each page the user can see. Each screen is either a StatelessWidget (no changing data) or StatefulWidget (has changing data like scan screen's isAnalyzing state). Each screen is a separate file for clean code organization.</a:t>
            </a:r>
          </a:p>
        </p:txBody>
      </p:sp>
      <p:sp>
        <p:nvSpPr>
          <p:cNvPr id="37" name="Rounded Rectangle 36"/>
          <p:cNvSpPr/>
          <p:nvPr/>
        </p:nvSpPr>
        <p:spPr>
          <a:xfrm>
            <a:off x="5669280" y="5239512"/>
            <a:ext cx="5943600" cy="77724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943600" y="5285231"/>
            <a:ext cx="5486400" cy="228600"/>
          </a:xfrm>
          <a:prstGeom prst="rect">
            <a:avLst/>
          </a:prstGeom>
          <a:noFill/>
        </p:spPr>
        <p:txBody>
          <a:bodyPr wrap="square">
            <a:spAutoFit/>
          </a:bodyPr>
          <a:lstStyle/>
          <a:p>
            <a:pPr algn="l">
              <a:defRPr sz="1100" b="1">
                <a:solidFill>
                  <a:srgbClr val="00D261"/>
                </a:solidFill>
                <a:latin typeface="Calibri"/>
              </a:defRPr>
            </a:pPr>
            <a:r>
              <a:t>services/ — Business Logic</a:t>
            </a:r>
          </a:p>
        </p:txBody>
      </p:sp>
      <p:sp>
        <p:nvSpPr>
          <p:cNvPr id="39" name="TextBox 38"/>
          <p:cNvSpPr txBox="1"/>
          <p:nvPr/>
        </p:nvSpPr>
        <p:spPr>
          <a:xfrm>
            <a:off x="5943600" y="5532120"/>
            <a:ext cx="5486400" cy="457200"/>
          </a:xfrm>
          <a:prstGeom prst="rect">
            <a:avLst/>
          </a:prstGeom>
          <a:noFill/>
        </p:spPr>
        <p:txBody>
          <a:bodyPr wrap="square">
            <a:spAutoFit/>
          </a:bodyPr>
          <a:lstStyle/>
          <a:p>
            <a:pPr algn="l">
              <a:defRPr sz="850" b="0">
                <a:solidFill>
                  <a:srgbClr val="94A3B8"/>
                </a:solidFill>
                <a:latin typeface="Calibri"/>
              </a:defRPr>
            </a:pPr>
            <a:r>
              <a:t>Contains scoring_service.dart — the brain of the app. This file has the analyzeImage() function, all 12+ category definitions with their criteria, and the score calculation formula. Screens call services, they don't do heavy logic themselves.</a:t>
            </a:r>
          </a:p>
        </p:txBody>
      </p:sp>
      <p:sp>
        <p:nvSpPr>
          <p:cNvPr id="40" name="Rounded Rectangle 39"/>
          <p:cNvSpPr/>
          <p:nvPr/>
        </p:nvSpPr>
        <p:spPr>
          <a:xfrm>
            <a:off x="5669280" y="6080759"/>
            <a:ext cx="5943600" cy="77724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43600" y="6126479"/>
            <a:ext cx="5486400" cy="228600"/>
          </a:xfrm>
          <a:prstGeom prst="rect">
            <a:avLst/>
          </a:prstGeom>
          <a:noFill/>
        </p:spPr>
        <p:txBody>
          <a:bodyPr wrap="square">
            <a:spAutoFit/>
          </a:bodyPr>
          <a:lstStyle/>
          <a:p>
            <a:pPr algn="l">
              <a:defRPr sz="1100" b="1">
                <a:solidFill>
                  <a:srgbClr val="00D261"/>
                </a:solidFill>
                <a:latin typeface="Calibri"/>
              </a:defRPr>
            </a:pPr>
            <a:r>
              <a:t>widgets/ — Reusable Components</a:t>
            </a:r>
          </a:p>
        </p:txBody>
      </p:sp>
      <p:sp>
        <p:nvSpPr>
          <p:cNvPr id="42" name="TextBox 41"/>
          <p:cNvSpPr txBox="1"/>
          <p:nvPr/>
        </p:nvSpPr>
        <p:spPr>
          <a:xfrm>
            <a:off x="5943600" y="6373368"/>
            <a:ext cx="5486400" cy="457200"/>
          </a:xfrm>
          <a:prstGeom prst="rect">
            <a:avLst/>
          </a:prstGeom>
          <a:noFill/>
        </p:spPr>
        <p:txBody>
          <a:bodyPr wrap="square">
            <a:spAutoFit/>
          </a:bodyPr>
          <a:lstStyle/>
          <a:p>
            <a:pPr algn="l">
              <a:defRPr sz="850" b="0">
                <a:solidFill>
                  <a:srgbClr val="94A3B8"/>
                </a:solidFill>
                <a:latin typeface="Calibri"/>
              </a:defRPr>
            </a:pPr>
            <a:r>
              <a:t>Contains small UI components that are used in multiple screens, like the score gauge widget. This avoids writing the same code twice. If we change a widget here, it updates everywhere it's used.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640080"/>
          </a:xfrm>
          <a:prstGeom prst="rect">
            <a:avLst/>
          </a:prstGeom>
          <a:noFill/>
        </p:spPr>
        <p:txBody>
          <a:bodyPr wrap="square">
            <a:spAutoFit/>
          </a:bodyPr>
          <a:lstStyle/>
          <a:p>
            <a:pPr algn="l">
              <a:defRPr sz="3600" b="1">
                <a:solidFill>
                  <a:srgbClr val="0F172A"/>
                </a:solidFill>
                <a:latin typeface="Calibri"/>
              </a:defRPr>
            </a:pPr>
            <a:r>
              <a:t>App Screens — Detailed Overview</a:t>
            </a:r>
          </a:p>
        </p:txBody>
      </p:sp>
      <p:sp>
        <p:nvSpPr>
          <p:cNvPr id="4" name="TextBox 3"/>
          <p:cNvSpPr txBox="1"/>
          <p:nvPr/>
        </p:nvSpPr>
        <p:spPr>
          <a:xfrm>
            <a:off x="731520" y="914400"/>
            <a:ext cx="9144000" cy="457200"/>
          </a:xfrm>
          <a:prstGeom prst="rect">
            <a:avLst/>
          </a:prstGeom>
          <a:noFill/>
        </p:spPr>
        <p:txBody>
          <a:bodyPr wrap="square">
            <a:spAutoFit/>
          </a:bodyPr>
          <a:lstStyle/>
          <a:p>
            <a:pPr algn="l">
              <a:defRPr sz="1500" b="0">
                <a:solidFill>
                  <a:srgbClr val="64748B"/>
                </a:solidFill>
                <a:latin typeface="Calibri"/>
              </a:defRPr>
            </a:pPr>
            <a:r>
              <a:t>Every screen explained — what it shows and what Flutter widgets power it</a:t>
            </a:r>
          </a:p>
        </p:txBody>
      </p:sp>
      <p:sp>
        <p:nvSpPr>
          <p:cNvPr id="5" name="Rounded Rectangle 4"/>
          <p:cNvSpPr/>
          <p:nvPr/>
        </p:nvSpPr>
        <p:spPr>
          <a:xfrm>
            <a:off x="731520" y="1371600"/>
            <a:ext cx="1097280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371600"/>
            <a:ext cx="73152" cy="658368"/>
          </a:xfrm>
          <a:prstGeom prst="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399032"/>
            <a:ext cx="2286000" cy="228600"/>
          </a:xfrm>
          <a:prstGeom prst="rect">
            <a:avLst/>
          </a:prstGeom>
          <a:noFill/>
        </p:spPr>
        <p:txBody>
          <a:bodyPr wrap="square">
            <a:spAutoFit/>
          </a:bodyPr>
          <a:lstStyle/>
          <a:p>
            <a:pPr algn="l">
              <a:defRPr sz="1100" b="1">
                <a:solidFill>
                  <a:srgbClr val="00D261"/>
                </a:solidFill>
                <a:latin typeface="Calibri"/>
              </a:defRPr>
            </a:pPr>
            <a:r>
              <a:t>1. Splash Screen</a:t>
            </a:r>
          </a:p>
        </p:txBody>
      </p:sp>
      <p:sp>
        <p:nvSpPr>
          <p:cNvPr id="8" name="TextBox 7"/>
          <p:cNvSpPr txBox="1"/>
          <p:nvPr/>
        </p:nvSpPr>
        <p:spPr>
          <a:xfrm>
            <a:off x="3200400" y="1399032"/>
            <a:ext cx="5029200" cy="594360"/>
          </a:xfrm>
          <a:prstGeom prst="rect">
            <a:avLst/>
          </a:prstGeom>
          <a:noFill/>
        </p:spPr>
        <p:txBody>
          <a:bodyPr wrap="square">
            <a:spAutoFit/>
          </a:bodyPr>
          <a:lstStyle/>
          <a:p>
            <a:pPr algn="l">
              <a:defRPr sz="800" b="0">
                <a:solidFill>
                  <a:srgbClr val="64748B"/>
                </a:solidFill>
                <a:latin typeface="Calibri"/>
              </a:defRPr>
            </a:pPr>
            <a:r>
              <a:t>Shows animated WheelScan logo bouncing in with elastic curve, title sliding up, tagline fading in, and a loading spinner. Background has green gradient with decorative circles for depth. After 3 seconds, smoothly fades to home screen using PageRouteBuilder.</a:t>
            </a:r>
          </a:p>
        </p:txBody>
      </p:sp>
      <p:sp>
        <p:nvSpPr>
          <p:cNvPr id="9" name="TextBox 8"/>
          <p:cNvSpPr txBox="1"/>
          <p:nvPr/>
        </p:nvSpPr>
        <p:spPr>
          <a:xfrm>
            <a:off x="8412480" y="1399032"/>
            <a:ext cx="3017520" cy="594360"/>
          </a:xfrm>
          <a:prstGeom prst="rect">
            <a:avLst/>
          </a:prstGeom>
          <a:noFill/>
        </p:spPr>
        <p:txBody>
          <a:bodyPr wrap="square">
            <a:spAutoFit/>
          </a:bodyPr>
          <a:lstStyle/>
          <a:p>
            <a:pPr algn="l">
              <a:defRPr sz="700" b="0">
                <a:solidFill>
                  <a:srgbClr val="94A3B8"/>
                </a:solidFill>
                <a:latin typeface="Consolas"/>
              </a:defRPr>
            </a:pPr>
            <a:r>
              <a:t>AnimationController, TickerProviderStateMixin, FadeTransition, SlideTransition, PageRouteBuilder, CurvedAnimation (elasticOut, easeOutCubic)</a:t>
            </a:r>
          </a:p>
        </p:txBody>
      </p:sp>
      <p:sp>
        <p:nvSpPr>
          <p:cNvPr id="10" name="Rounded Rectangle 9"/>
          <p:cNvSpPr/>
          <p:nvPr/>
        </p:nvSpPr>
        <p:spPr>
          <a:xfrm>
            <a:off x="731520" y="2121408"/>
            <a:ext cx="1097280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2121408"/>
            <a:ext cx="73152" cy="658368"/>
          </a:xfrm>
          <a:prstGeom prst="rect">
            <a:avLst/>
          </a:prstGeom>
          <a:solidFill>
            <a:srgbClr val="4F7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148839"/>
            <a:ext cx="2286000" cy="228600"/>
          </a:xfrm>
          <a:prstGeom prst="rect">
            <a:avLst/>
          </a:prstGeom>
          <a:noFill/>
        </p:spPr>
        <p:txBody>
          <a:bodyPr wrap="square">
            <a:spAutoFit/>
          </a:bodyPr>
          <a:lstStyle/>
          <a:p>
            <a:pPr algn="l">
              <a:defRPr sz="1100" b="1">
                <a:solidFill>
                  <a:srgbClr val="4F7DF7"/>
                </a:solidFill>
                <a:latin typeface="Calibri"/>
              </a:defRPr>
            </a:pPr>
            <a:r>
              <a:t>2. Home Dashboard</a:t>
            </a:r>
          </a:p>
        </p:txBody>
      </p:sp>
      <p:sp>
        <p:nvSpPr>
          <p:cNvPr id="13" name="TextBox 12"/>
          <p:cNvSpPr txBox="1"/>
          <p:nvPr/>
        </p:nvSpPr>
        <p:spPr>
          <a:xfrm>
            <a:off x="3200400" y="2148839"/>
            <a:ext cx="5029200" cy="594360"/>
          </a:xfrm>
          <a:prstGeom prst="rect">
            <a:avLst/>
          </a:prstGeom>
          <a:noFill/>
        </p:spPr>
        <p:txBody>
          <a:bodyPr wrap="square">
            <a:spAutoFit/>
          </a:bodyPr>
          <a:lstStyle/>
          <a:p>
            <a:pPr algn="l">
              <a:defRPr sz="800" b="0">
                <a:solidFill>
                  <a:srgbClr val="64748B"/>
                </a:solidFill>
                <a:latin typeface="Calibri"/>
              </a:defRPr>
            </a:pPr>
            <a:r>
              <a:t>Greeting with user name, green avatar, notification bell. Dark hero card with 'Scan Now' button and embedded stats (24 scans, 72 avg score, 12 places, 7 streak). Quick scan category chips. Impact cards (5 Issues Found, 3 Improved). Recent audit list with circular score badges. Bottom tip card linking to map.</a:t>
            </a:r>
          </a:p>
        </p:txBody>
      </p:sp>
      <p:sp>
        <p:nvSpPr>
          <p:cNvPr id="14" name="TextBox 13"/>
          <p:cNvSpPr txBox="1"/>
          <p:nvPr/>
        </p:nvSpPr>
        <p:spPr>
          <a:xfrm>
            <a:off x="8412480" y="2148839"/>
            <a:ext cx="3017520" cy="594360"/>
          </a:xfrm>
          <a:prstGeom prst="rect">
            <a:avLst/>
          </a:prstGeom>
          <a:noFill/>
        </p:spPr>
        <p:txBody>
          <a:bodyPr wrap="square">
            <a:spAutoFit/>
          </a:bodyPr>
          <a:lstStyle/>
          <a:p>
            <a:pPr algn="l">
              <a:defRPr sz="700" b="0">
                <a:solidFill>
                  <a:srgbClr val="94A3B8"/>
                </a:solidFill>
                <a:latin typeface="Consolas"/>
              </a:defRPr>
            </a:pPr>
            <a:r>
              <a:t>SafeArea, SingleChildScrollView, GestureDetector, Container with BoxDecoration, LinearGradient, BoxShadow, Row, Column, ListView (horizontal), Expanded</a:t>
            </a:r>
          </a:p>
        </p:txBody>
      </p:sp>
      <p:sp>
        <p:nvSpPr>
          <p:cNvPr id="15" name="Rounded Rectangle 14"/>
          <p:cNvSpPr/>
          <p:nvPr/>
        </p:nvSpPr>
        <p:spPr>
          <a:xfrm>
            <a:off x="731520" y="2871215"/>
            <a:ext cx="1097280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2871215"/>
            <a:ext cx="73152" cy="658368"/>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2898647"/>
            <a:ext cx="2286000" cy="228600"/>
          </a:xfrm>
          <a:prstGeom prst="rect">
            <a:avLst/>
          </a:prstGeom>
          <a:noFill/>
        </p:spPr>
        <p:txBody>
          <a:bodyPr wrap="square">
            <a:spAutoFit/>
          </a:bodyPr>
          <a:lstStyle/>
          <a:p>
            <a:pPr algn="l">
              <a:defRPr sz="1100" b="1">
                <a:solidFill>
                  <a:srgbClr val="8B5CF6"/>
                </a:solidFill>
                <a:latin typeface="Calibri"/>
              </a:defRPr>
            </a:pPr>
            <a:r>
              <a:t>3. Scan Screen</a:t>
            </a:r>
          </a:p>
        </p:txBody>
      </p:sp>
      <p:sp>
        <p:nvSpPr>
          <p:cNvPr id="18" name="TextBox 17"/>
          <p:cNvSpPr txBox="1"/>
          <p:nvPr/>
        </p:nvSpPr>
        <p:spPr>
          <a:xfrm>
            <a:off x="3200400" y="2898647"/>
            <a:ext cx="5029200" cy="594360"/>
          </a:xfrm>
          <a:prstGeom prst="rect">
            <a:avLst/>
          </a:prstGeom>
          <a:noFill/>
        </p:spPr>
        <p:txBody>
          <a:bodyPr wrap="square">
            <a:spAutoFit/>
          </a:bodyPr>
          <a:lstStyle/>
          <a:p>
            <a:pPr algn="l">
              <a:defRPr sz="800" b="0">
                <a:solidFill>
                  <a:srgbClr val="64748B"/>
                </a:solidFill>
                <a:latin typeface="Calibri"/>
              </a:defRPr>
            </a:pPr>
            <a:r>
              <a:t>Two main options: 'Take a Photo' (camera) and 'Upload from Gallery'. After picking image, bottom sheet slides up with 5 preset space types + 'Describe the Space' custom option with text field and suggestion chips. Shows loading animation during analysis. Navigates to results.</a:t>
            </a:r>
          </a:p>
        </p:txBody>
      </p:sp>
      <p:sp>
        <p:nvSpPr>
          <p:cNvPr id="19" name="TextBox 18"/>
          <p:cNvSpPr txBox="1"/>
          <p:nvPr/>
        </p:nvSpPr>
        <p:spPr>
          <a:xfrm>
            <a:off x="8412480" y="2898647"/>
            <a:ext cx="3017520" cy="594360"/>
          </a:xfrm>
          <a:prstGeom prst="rect">
            <a:avLst/>
          </a:prstGeom>
          <a:noFill/>
        </p:spPr>
        <p:txBody>
          <a:bodyPr wrap="square">
            <a:spAutoFit/>
          </a:bodyPr>
          <a:lstStyle/>
          <a:p>
            <a:pPr algn="l">
              <a:defRPr sz="700" b="0">
                <a:solidFill>
                  <a:srgbClr val="94A3B8"/>
                </a:solidFill>
                <a:latin typeface="Consolas"/>
              </a:defRPr>
            </a:pPr>
            <a:r>
              <a:t>StatefulWidget, ImagePicker, showModalBottomSheet, showDialog, TextField, TextEditingController, Future.delayed, Navigator.push, async/await, mounted check</a:t>
            </a:r>
          </a:p>
        </p:txBody>
      </p:sp>
      <p:sp>
        <p:nvSpPr>
          <p:cNvPr id="20" name="Rounded Rectangle 19"/>
          <p:cNvSpPr/>
          <p:nvPr/>
        </p:nvSpPr>
        <p:spPr>
          <a:xfrm>
            <a:off x="731520" y="3621024"/>
            <a:ext cx="1097280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3621024"/>
            <a:ext cx="73152" cy="658368"/>
          </a:xfrm>
          <a:prstGeom prst="rect">
            <a:avLst/>
          </a:prstGeom>
          <a:solidFill>
            <a:srgbClr val="FFB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3648456"/>
            <a:ext cx="2286000" cy="228600"/>
          </a:xfrm>
          <a:prstGeom prst="rect">
            <a:avLst/>
          </a:prstGeom>
          <a:noFill/>
        </p:spPr>
        <p:txBody>
          <a:bodyPr wrap="square">
            <a:spAutoFit/>
          </a:bodyPr>
          <a:lstStyle/>
          <a:p>
            <a:pPr algn="l">
              <a:defRPr sz="1100" b="1">
                <a:solidFill>
                  <a:srgbClr val="FFB020"/>
                </a:solidFill>
                <a:latin typeface="Calibri"/>
              </a:defRPr>
            </a:pPr>
            <a:r>
              <a:t>4. Results Screen</a:t>
            </a:r>
          </a:p>
        </p:txBody>
      </p:sp>
      <p:sp>
        <p:nvSpPr>
          <p:cNvPr id="23" name="TextBox 22"/>
          <p:cNvSpPr txBox="1"/>
          <p:nvPr/>
        </p:nvSpPr>
        <p:spPr>
          <a:xfrm>
            <a:off x="3200400" y="3648456"/>
            <a:ext cx="5029200" cy="594360"/>
          </a:xfrm>
          <a:prstGeom prst="rect">
            <a:avLst/>
          </a:prstGeom>
          <a:noFill/>
        </p:spPr>
        <p:txBody>
          <a:bodyPr wrap="square">
            <a:spAutoFit/>
          </a:bodyPr>
          <a:lstStyle/>
          <a:p>
            <a:pPr algn="l">
              <a:defRPr sz="800" b="0">
                <a:solidFill>
                  <a:srgbClr val="64748B"/>
                </a:solidFill>
                <a:latin typeface="Calibri"/>
              </a:defRPr>
            </a:pPr>
            <a:r>
              <a:t>Animated score ring drawn with CustomPainter — fills from 0 to score over 1.5 seconds with gradient sweep and glowing dot. Gently pulses. Dark card with space type badge and PASS/WARNING/CRITICAL counts. Issue cards slide in one by one with staggered animation. Each card has severity icon, badge, description, and recommendation.</a:t>
            </a:r>
          </a:p>
        </p:txBody>
      </p:sp>
      <p:sp>
        <p:nvSpPr>
          <p:cNvPr id="24" name="TextBox 23"/>
          <p:cNvSpPr txBox="1"/>
          <p:nvPr/>
        </p:nvSpPr>
        <p:spPr>
          <a:xfrm>
            <a:off x="8412480" y="3648456"/>
            <a:ext cx="3017520" cy="594360"/>
          </a:xfrm>
          <a:prstGeom prst="rect">
            <a:avLst/>
          </a:prstGeom>
          <a:noFill/>
        </p:spPr>
        <p:txBody>
          <a:bodyPr wrap="square">
            <a:spAutoFit/>
          </a:bodyPr>
          <a:lstStyle/>
          <a:p>
            <a:pPr algn="l">
              <a:defRPr sz="700" b="0">
                <a:solidFill>
                  <a:srgbClr val="94A3B8"/>
                </a:solidFill>
                <a:latin typeface="Consolas"/>
              </a:defRPr>
            </a:pPr>
            <a:r>
              <a:t>CustomPainter, Canvas.drawArc, SweepGradient, AnimationController x3, TickerProviderStateMixin, CustomScrollView, SliverAppBar, SliverToBoxAdapter, Transform.translate, Opacity animation</a:t>
            </a:r>
          </a:p>
        </p:txBody>
      </p:sp>
      <p:sp>
        <p:nvSpPr>
          <p:cNvPr id="25" name="Rounded Rectangle 24"/>
          <p:cNvSpPr/>
          <p:nvPr/>
        </p:nvSpPr>
        <p:spPr>
          <a:xfrm>
            <a:off x="731520" y="4370831"/>
            <a:ext cx="1097280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1520" y="4370831"/>
            <a:ext cx="73152" cy="658368"/>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 y="4398264"/>
            <a:ext cx="2286000" cy="228600"/>
          </a:xfrm>
          <a:prstGeom prst="rect">
            <a:avLst/>
          </a:prstGeom>
          <a:noFill/>
        </p:spPr>
        <p:txBody>
          <a:bodyPr wrap="square">
            <a:spAutoFit/>
          </a:bodyPr>
          <a:lstStyle/>
          <a:p>
            <a:pPr algn="l">
              <a:defRPr sz="1100" b="1">
                <a:solidFill>
                  <a:srgbClr val="009688"/>
                </a:solidFill>
                <a:latin typeface="Calibri"/>
              </a:defRPr>
            </a:pPr>
            <a:r>
              <a:t>5. Map Screen</a:t>
            </a:r>
          </a:p>
        </p:txBody>
      </p:sp>
      <p:sp>
        <p:nvSpPr>
          <p:cNvPr id="28" name="TextBox 27"/>
          <p:cNvSpPr txBox="1"/>
          <p:nvPr/>
        </p:nvSpPr>
        <p:spPr>
          <a:xfrm>
            <a:off x="3200400" y="4398264"/>
            <a:ext cx="5029200" cy="594360"/>
          </a:xfrm>
          <a:prstGeom prst="rect">
            <a:avLst/>
          </a:prstGeom>
          <a:noFill/>
        </p:spPr>
        <p:txBody>
          <a:bodyPr wrap="square">
            <a:spAutoFit/>
          </a:bodyPr>
          <a:lstStyle/>
          <a:p>
            <a:pPr algn="l">
              <a:defRPr sz="800" b="0">
                <a:solidFill>
                  <a:srgbClr val="64748B"/>
                </a:solidFill>
                <a:latin typeface="Calibri"/>
              </a:defRPr>
            </a:pPr>
            <a:r>
              <a:t>Simulated campus map drawn with CustomPainter (grid lines, road lines, building blocks). 8 color-coded location pins positioned with Stack + Positioned. Tapping a pin highlights it and shows name tooltip. Filter chips actually filter visible pins. Horizontally scrollable location cards at bottom sync with map pins.</a:t>
            </a:r>
          </a:p>
        </p:txBody>
      </p:sp>
      <p:sp>
        <p:nvSpPr>
          <p:cNvPr id="29" name="TextBox 28"/>
          <p:cNvSpPr txBox="1"/>
          <p:nvPr/>
        </p:nvSpPr>
        <p:spPr>
          <a:xfrm>
            <a:off x="8412480" y="4398264"/>
            <a:ext cx="3017520" cy="594360"/>
          </a:xfrm>
          <a:prstGeom prst="rect">
            <a:avLst/>
          </a:prstGeom>
          <a:noFill/>
        </p:spPr>
        <p:txBody>
          <a:bodyPr wrap="square">
            <a:spAutoFit/>
          </a:bodyPr>
          <a:lstStyle/>
          <a:p>
            <a:pPr algn="l">
              <a:defRPr sz="700" b="0">
                <a:solidFill>
                  <a:srgbClr val="94A3B8"/>
                </a:solidFill>
                <a:latin typeface="Consolas"/>
              </a:defRPr>
            </a:pPr>
            <a:r>
              <a:t>StatefulWidget, CustomPainter, Stack, Positioned, AnimatedContainer, ListView.builder (horizontal), GestureDetector, setState for filters and pin selection</a:t>
            </a:r>
          </a:p>
        </p:txBody>
      </p:sp>
      <p:sp>
        <p:nvSpPr>
          <p:cNvPr id="30" name="Rounded Rectangle 29"/>
          <p:cNvSpPr/>
          <p:nvPr/>
        </p:nvSpPr>
        <p:spPr>
          <a:xfrm>
            <a:off x="731520" y="5120640"/>
            <a:ext cx="1097280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1520" y="5120640"/>
            <a:ext cx="73152" cy="658368"/>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5840" y="5148072"/>
            <a:ext cx="2286000" cy="228600"/>
          </a:xfrm>
          <a:prstGeom prst="rect">
            <a:avLst/>
          </a:prstGeom>
          <a:noFill/>
        </p:spPr>
        <p:txBody>
          <a:bodyPr wrap="square">
            <a:spAutoFit/>
          </a:bodyPr>
          <a:lstStyle/>
          <a:p>
            <a:pPr algn="l">
              <a:defRPr sz="1100" b="1">
                <a:solidFill>
                  <a:srgbClr val="EF4444"/>
                </a:solidFill>
                <a:latin typeface="Calibri"/>
              </a:defRPr>
            </a:pPr>
            <a:r>
              <a:t>6. Community Feed</a:t>
            </a:r>
          </a:p>
        </p:txBody>
      </p:sp>
      <p:sp>
        <p:nvSpPr>
          <p:cNvPr id="33" name="TextBox 32"/>
          <p:cNvSpPr txBox="1"/>
          <p:nvPr/>
        </p:nvSpPr>
        <p:spPr>
          <a:xfrm>
            <a:off x="3200400" y="5148072"/>
            <a:ext cx="5029200" cy="594360"/>
          </a:xfrm>
          <a:prstGeom prst="rect">
            <a:avLst/>
          </a:prstGeom>
          <a:noFill/>
        </p:spPr>
        <p:txBody>
          <a:bodyPr wrap="square">
            <a:spAutoFit/>
          </a:bodyPr>
          <a:lstStyle/>
          <a:p>
            <a:pPr algn="l">
              <a:defRPr sz="800" b="0">
                <a:solidFill>
                  <a:srgbClr val="64748B"/>
                </a:solidFill>
                <a:latin typeface="Calibri"/>
              </a:defRPr>
            </a:pPr>
            <a:r>
              <a:t>Header with filter icon. Horizontal filter chips (All, Ramps, Doorways, etc.). 6 audit cards from different users showing: avatar with initial, name, time ago, score badge with /100, location with pin icon, space type tag, description text, like/comment/share/bookmark buttons.</a:t>
            </a:r>
          </a:p>
        </p:txBody>
      </p:sp>
      <p:sp>
        <p:nvSpPr>
          <p:cNvPr id="34" name="TextBox 33"/>
          <p:cNvSpPr txBox="1"/>
          <p:nvPr/>
        </p:nvSpPr>
        <p:spPr>
          <a:xfrm>
            <a:off x="8412480" y="5148072"/>
            <a:ext cx="3017520" cy="594360"/>
          </a:xfrm>
          <a:prstGeom prst="rect">
            <a:avLst/>
          </a:prstGeom>
          <a:noFill/>
        </p:spPr>
        <p:txBody>
          <a:bodyPr wrap="square">
            <a:spAutoFit/>
          </a:bodyPr>
          <a:lstStyle/>
          <a:p>
            <a:pPr algn="l">
              <a:defRPr sz="700" b="0">
                <a:solidFill>
                  <a:srgbClr val="94A3B8"/>
                </a:solidFill>
                <a:latin typeface="Consolas"/>
              </a:defRPr>
            </a:pPr>
            <a:r>
              <a:t>SafeArea, Column, SizedBox with horizontal ListView, Expanded with vertical ListView, Container, CircleAvatar, Row with Expanded, Padding, Text styling</a:t>
            </a:r>
          </a:p>
        </p:txBody>
      </p:sp>
      <p:sp>
        <p:nvSpPr>
          <p:cNvPr id="35" name="Rounded Rectangle 34"/>
          <p:cNvSpPr/>
          <p:nvPr/>
        </p:nvSpPr>
        <p:spPr>
          <a:xfrm>
            <a:off x="731520" y="5870448"/>
            <a:ext cx="1097280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1520" y="5870448"/>
            <a:ext cx="73152" cy="658368"/>
          </a:xfrm>
          <a:prstGeom prst="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5840" y="5897880"/>
            <a:ext cx="2286000" cy="228600"/>
          </a:xfrm>
          <a:prstGeom prst="rect">
            <a:avLst/>
          </a:prstGeom>
          <a:noFill/>
        </p:spPr>
        <p:txBody>
          <a:bodyPr wrap="square">
            <a:spAutoFit/>
          </a:bodyPr>
          <a:lstStyle/>
          <a:p>
            <a:pPr algn="l">
              <a:defRPr sz="1100" b="1">
                <a:solidFill>
                  <a:srgbClr val="00D261"/>
                </a:solidFill>
                <a:latin typeface="Calibri"/>
              </a:defRPr>
            </a:pPr>
            <a:r>
              <a:t>7. Profile Screen</a:t>
            </a:r>
          </a:p>
        </p:txBody>
      </p:sp>
      <p:sp>
        <p:nvSpPr>
          <p:cNvPr id="38" name="TextBox 37"/>
          <p:cNvSpPr txBox="1"/>
          <p:nvPr/>
        </p:nvSpPr>
        <p:spPr>
          <a:xfrm>
            <a:off x="3200400" y="5897880"/>
            <a:ext cx="5029200" cy="594360"/>
          </a:xfrm>
          <a:prstGeom prst="rect">
            <a:avLst/>
          </a:prstGeom>
          <a:noFill/>
        </p:spPr>
        <p:txBody>
          <a:bodyPr wrap="square">
            <a:spAutoFit/>
          </a:bodyPr>
          <a:lstStyle/>
          <a:p>
            <a:pPr algn="l">
              <a:defRPr sz="800" b="0">
                <a:solidFill>
                  <a:srgbClr val="64748B"/>
                </a:solidFill>
                <a:latin typeface="Calibri"/>
              </a:defRPr>
            </a:pPr>
            <a:r>
              <a:t>Green gradient avatar with initial. Stats row (24 Audits, 72 Avg Score, 12 Places, 5 Badges). Horizontal scrollable badges — earned ones colored, locked ones grey. Tapping badges shows snackbar. 7-day streak card. Audit history with 6 entries. Settings: Edit Profile (dialog with text fields), Notifications (bottom sheet with toggles), Dark Mode (toggle), Language (selector with flags), Help &amp; Support (bottom sheet), About WheelScan (dialog with app info), Log Out (confirmation dialog).</a:t>
            </a:r>
          </a:p>
        </p:txBody>
      </p:sp>
      <p:sp>
        <p:nvSpPr>
          <p:cNvPr id="39" name="TextBox 38"/>
          <p:cNvSpPr txBox="1"/>
          <p:nvPr/>
        </p:nvSpPr>
        <p:spPr>
          <a:xfrm>
            <a:off x="8412480" y="5897880"/>
            <a:ext cx="3017520" cy="594360"/>
          </a:xfrm>
          <a:prstGeom prst="rect">
            <a:avLst/>
          </a:prstGeom>
          <a:noFill/>
        </p:spPr>
        <p:txBody>
          <a:bodyPr wrap="square">
            <a:spAutoFit/>
          </a:bodyPr>
          <a:lstStyle/>
          <a:p>
            <a:pPr algn="l">
              <a:defRPr sz="700" b="0">
                <a:solidFill>
                  <a:srgbClr val="94A3B8"/>
                </a:solidFill>
                <a:latin typeface="Consolas"/>
              </a:defRPr>
            </a:pPr>
            <a:r>
              <a:t>StatefulWidget, setState, showDialog, showModalBottomSheet, Switch widget, TextEditingController, ScaffoldMessenger.showSnackBar, Navigator.pop, GestureDetector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F2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640080"/>
          </a:xfrm>
          <a:prstGeom prst="rect">
            <a:avLst/>
          </a:prstGeom>
          <a:noFill/>
        </p:spPr>
        <p:txBody>
          <a:bodyPr wrap="square">
            <a:spAutoFit/>
          </a:bodyPr>
          <a:lstStyle/>
          <a:p>
            <a:pPr algn="l">
              <a:defRPr sz="3600" b="1">
                <a:solidFill>
                  <a:srgbClr val="FFFFFF"/>
                </a:solidFill>
                <a:latin typeface="Calibri"/>
              </a:defRPr>
            </a:pPr>
            <a:r>
              <a:t>AI / ML Pipeline</a:t>
            </a:r>
          </a:p>
        </p:txBody>
      </p:sp>
      <p:sp>
        <p:nvSpPr>
          <p:cNvPr id="4" name="TextBox 3"/>
          <p:cNvSpPr txBox="1"/>
          <p:nvPr/>
        </p:nvSpPr>
        <p:spPr>
          <a:xfrm>
            <a:off x="731520" y="914400"/>
            <a:ext cx="9144000" cy="457200"/>
          </a:xfrm>
          <a:prstGeom prst="rect">
            <a:avLst/>
          </a:prstGeom>
          <a:noFill/>
        </p:spPr>
        <p:txBody>
          <a:bodyPr wrap="square">
            <a:spAutoFit/>
          </a:bodyPr>
          <a:lstStyle/>
          <a:p>
            <a:pPr algn="l">
              <a:defRPr sz="1500" b="0">
                <a:solidFill>
                  <a:srgbClr val="94A3B8"/>
                </a:solidFill>
                <a:latin typeface="Calibri"/>
              </a:defRPr>
            </a:pPr>
            <a:r>
              <a:t>How the image classification and scoring engine works — step by step</a:t>
            </a:r>
          </a:p>
        </p:txBody>
      </p:sp>
      <p:sp>
        <p:nvSpPr>
          <p:cNvPr id="5" name="Rounded Rectangle 4"/>
          <p:cNvSpPr/>
          <p:nvPr/>
        </p:nvSpPr>
        <p:spPr>
          <a:xfrm>
            <a:off x="731520" y="1463040"/>
            <a:ext cx="10972800" cy="219456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600200"/>
            <a:ext cx="10058400" cy="365760"/>
          </a:xfrm>
          <a:prstGeom prst="rect">
            <a:avLst/>
          </a:prstGeom>
          <a:noFill/>
        </p:spPr>
        <p:txBody>
          <a:bodyPr wrap="square">
            <a:spAutoFit/>
          </a:bodyPr>
          <a:lstStyle/>
          <a:p>
            <a:pPr algn="l">
              <a:defRPr sz="1500" b="1">
                <a:solidFill>
                  <a:srgbClr val="00D261"/>
                </a:solidFill>
                <a:latin typeface="Calibri"/>
              </a:defRPr>
            </a:pPr>
            <a:r>
              <a:t>Complete AI Pipeline Flow</a:t>
            </a:r>
          </a:p>
        </p:txBody>
      </p:sp>
      <p:sp>
        <p:nvSpPr>
          <p:cNvPr id="7" name="Rounded Rectangle 6"/>
          <p:cNvSpPr/>
          <p:nvPr/>
        </p:nvSpPr>
        <p:spPr>
          <a:xfrm>
            <a:off x="1097280" y="2103120"/>
            <a:ext cx="1828800" cy="1188720"/>
          </a:xfrm>
          <a:prstGeom prst="roundRect">
            <a:avLst/>
          </a:prstGeom>
          <a:solidFill>
            <a:srgbClr val="2D34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234439" y="2194560"/>
            <a:ext cx="822960" cy="228600"/>
          </a:xfrm>
          <a:prstGeom prst="round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34439" y="2194560"/>
            <a:ext cx="822960" cy="228600"/>
          </a:xfrm>
          <a:prstGeom prst="rect">
            <a:avLst/>
          </a:prstGeom>
          <a:noFill/>
        </p:spPr>
        <p:txBody>
          <a:bodyPr wrap="square">
            <a:spAutoFit/>
          </a:bodyPr>
          <a:lstStyle/>
          <a:p>
            <a:pPr algn="ctr">
              <a:defRPr sz="800" b="1">
                <a:solidFill>
                  <a:srgbClr val="FFFFFF"/>
                </a:solidFill>
                <a:latin typeface="Calibri"/>
              </a:defRPr>
            </a:pPr>
            <a:r>
              <a:t>INPUT</a:t>
            </a:r>
          </a:p>
        </p:txBody>
      </p:sp>
      <p:sp>
        <p:nvSpPr>
          <p:cNvPr id="10" name="TextBox 9"/>
          <p:cNvSpPr txBox="1"/>
          <p:nvPr/>
        </p:nvSpPr>
        <p:spPr>
          <a:xfrm>
            <a:off x="1234439" y="2514600"/>
            <a:ext cx="1554480" cy="731520"/>
          </a:xfrm>
          <a:prstGeom prst="rect">
            <a:avLst/>
          </a:prstGeom>
          <a:noFill/>
        </p:spPr>
        <p:txBody>
          <a:bodyPr wrap="square">
            <a:spAutoFit/>
          </a:bodyPr>
          <a:lstStyle/>
          <a:p>
            <a:pPr algn="l">
              <a:defRPr sz="800" b="0">
                <a:solidFill>
                  <a:srgbClr val="94A3B8"/>
                </a:solidFill>
                <a:latin typeface="Calibri"/>
              </a:defRPr>
            </a:pPr>
            <a:r>
              <a:t>User uploads image + selects space type OR types custom description</a:t>
            </a:r>
          </a:p>
        </p:txBody>
      </p:sp>
      <p:sp>
        <p:nvSpPr>
          <p:cNvPr id="11" name="TextBox 10"/>
          <p:cNvSpPr txBox="1"/>
          <p:nvPr/>
        </p:nvSpPr>
        <p:spPr>
          <a:xfrm>
            <a:off x="2926080" y="2514600"/>
            <a:ext cx="274320" cy="457200"/>
          </a:xfrm>
          <a:prstGeom prst="rect">
            <a:avLst/>
          </a:prstGeom>
          <a:noFill/>
        </p:spPr>
        <p:txBody>
          <a:bodyPr wrap="square">
            <a:spAutoFit/>
          </a:bodyPr>
          <a:lstStyle/>
          <a:p>
            <a:pPr algn="ctr">
              <a:defRPr sz="1400" b="1">
                <a:solidFill>
                  <a:srgbClr val="94A3B8"/>
                </a:solidFill>
                <a:latin typeface="Calibri"/>
              </a:defRPr>
            </a:pPr>
            <a:r>
              <a:t>&gt;&gt;</a:t>
            </a:r>
          </a:p>
        </p:txBody>
      </p:sp>
      <p:sp>
        <p:nvSpPr>
          <p:cNvPr id="12" name="Rounded Rectangle 11"/>
          <p:cNvSpPr/>
          <p:nvPr/>
        </p:nvSpPr>
        <p:spPr>
          <a:xfrm>
            <a:off x="3108960" y="2103120"/>
            <a:ext cx="1828800" cy="1188720"/>
          </a:xfrm>
          <a:prstGeom prst="roundRect">
            <a:avLst/>
          </a:prstGeom>
          <a:solidFill>
            <a:srgbClr val="2D34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246120" y="2194560"/>
            <a:ext cx="822960" cy="228600"/>
          </a:xfrm>
          <a:prstGeom prst="roundRect">
            <a:avLst/>
          </a:prstGeom>
          <a:solidFill>
            <a:srgbClr val="4F7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46120" y="2194560"/>
            <a:ext cx="822960" cy="228600"/>
          </a:xfrm>
          <a:prstGeom prst="rect">
            <a:avLst/>
          </a:prstGeom>
          <a:noFill/>
        </p:spPr>
        <p:txBody>
          <a:bodyPr wrap="square">
            <a:spAutoFit/>
          </a:bodyPr>
          <a:lstStyle/>
          <a:p>
            <a:pPr algn="ctr">
              <a:defRPr sz="800" b="1">
                <a:solidFill>
                  <a:srgbClr val="FFFFFF"/>
                </a:solidFill>
                <a:latin typeface="Calibri"/>
              </a:defRPr>
            </a:pPr>
            <a:r>
              <a:t>CLASSIFY</a:t>
            </a:r>
          </a:p>
        </p:txBody>
      </p:sp>
      <p:sp>
        <p:nvSpPr>
          <p:cNvPr id="15" name="TextBox 14"/>
          <p:cNvSpPr txBox="1"/>
          <p:nvPr/>
        </p:nvSpPr>
        <p:spPr>
          <a:xfrm>
            <a:off x="3246120" y="2514600"/>
            <a:ext cx="1554480" cy="731520"/>
          </a:xfrm>
          <a:prstGeom prst="rect">
            <a:avLst/>
          </a:prstGeom>
          <a:noFill/>
        </p:spPr>
        <p:txBody>
          <a:bodyPr wrap="square">
            <a:spAutoFit/>
          </a:bodyPr>
          <a:lstStyle/>
          <a:p>
            <a:pPr algn="l">
              <a:defRPr sz="800" b="0">
                <a:solidFill>
                  <a:srgbClr val="94A3B8"/>
                </a:solidFill>
                <a:latin typeface="Calibri"/>
              </a:defRPr>
            </a:pPr>
            <a:r>
              <a:t>If preset: directly use selected category. If custom: run keyword matching against 12+ patterns (road, home, hospital, mall, transit, garden, office, etc.)</a:t>
            </a:r>
          </a:p>
        </p:txBody>
      </p:sp>
      <p:sp>
        <p:nvSpPr>
          <p:cNvPr id="16" name="TextBox 15"/>
          <p:cNvSpPr txBox="1"/>
          <p:nvPr/>
        </p:nvSpPr>
        <p:spPr>
          <a:xfrm>
            <a:off x="4937760" y="2514600"/>
            <a:ext cx="274320" cy="457200"/>
          </a:xfrm>
          <a:prstGeom prst="rect">
            <a:avLst/>
          </a:prstGeom>
          <a:noFill/>
        </p:spPr>
        <p:txBody>
          <a:bodyPr wrap="square">
            <a:spAutoFit/>
          </a:bodyPr>
          <a:lstStyle/>
          <a:p>
            <a:pPr algn="ctr">
              <a:defRPr sz="1400" b="1">
                <a:solidFill>
                  <a:srgbClr val="94A3B8"/>
                </a:solidFill>
                <a:latin typeface="Calibri"/>
              </a:defRPr>
            </a:pPr>
            <a:r>
              <a:t>&gt;&gt;</a:t>
            </a:r>
          </a:p>
        </p:txBody>
      </p:sp>
      <p:sp>
        <p:nvSpPr>
          <p:cNvPr id="17" name="Rounded Rectangle 16"/>
          <p:cNvSpPr/>
          <p:nvPr/>
        </p:nvSpPr>
        <p:spPr>
          <a:xfrm>
            <a:off x="5120640" y="2103120"/>
            <a:ext cx="1828800" cy="1188720"/>
          </a:xfrm>
          <a:prstGeom prst="roundRect">
            <a:avLst/>
          </a:prstGeom>
          <a:solidFill>
            <a:srgbClr val="2D34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257800" y="2194560"/>
            <a:ext cx="822960" cy="22860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57800" y="2194560"/>
            <a:ext cx="822960" cy="228600"/>
          </a:xfrm>
          <a:prstGeom prst="rect">
            <a:avLst/>
          </a:prstGeom>
          <a:noFill/>
        </p:spPr>
        <p:txBody>
          <a:bodyPr wrap="square">
            <a:spAutoFit/>
          </a:bodyPr>
          <a:lstStyle/>
          <a:p>
            <a:pPr algn="ctr">
              <a:defRPr sz="800" b="1">
                <a:solidFill>
                  <a:srgbClr val="FFFFFF"/>
                </a:solidFill>
                <a:latin typeface="Calibri"/>
              </a:defRPr>
            </a:pPr>
            <a:r>
              <a:t>CRITERIA</a:t>
            </a:r>
          </a:p>
        </p:txBody>
      </p:sp>
      <p:sp>
        <p:nvSpPr>
          <p:cNvPr id="20" name="TextBox 19"/>
          <p:cNvSpPr txBox="1"/>
          <p:nvPr/>
        </p:nvSpPr>
        <p:spPr>
          <a:xfrm>
            <a:off x="5257800" y="2514600"/>
            <a:ext cx="1554480" cy="731520"/>
          </a:xfrm>
          <a:prstGeom prst="rect">
            <a:avLst/>
          </a:prstGeom>
          <a:noFill/>
        </p:spPr>
        <p:txBody>
          <a:bodyPr wrap="square">
            <a:spAutoFit/>
          </a:bodyPr>
          <a:lstStyle/>
          <a:p>
            <a:pPr algn="l">
              <a:defRPr sz="800" b="0">
                <a:solidFill>
                  <a:srgbClr val="94A3B8"/>
                </a:solidFill>
                <a:latin typeface="Calibri"/>
              </a:defRPr>
            </a:pPr>
            <a:r>
              <a:t>Load the specific accessibility criteria for that category. Example: Ramp has 4 criteria (Handrails, Slope Angle, Surface Texture, Width). Parking has 3 (Accessible Sign, Space Width, Path to Entrance).</a:t>
            </a:r>
          </a:p>
        </p:txBody>
      </p:sp>
      <p:sp>
        <p:nvSpPr>
          <p:cNvPr id="21" name="TextBox 20"/>
          <p:cNvSpPr txBox="1"/>
          <p:nvPr/>
        </p:nvSpPr>
        <p:spPr>
          <a:xfrm>
            <a:off x="6949440" y="2514600"/>
            <a:ext cx="274320" cy="457200"/>
          </a:xfrm>
          <a:prstGeom prst="rect">
            <a:avLst/>
          </a:prstGeom>
          <a:noFill/>
        </p:spPr>
        <p:txBody>
          <a:bodyPr wrap="square">
            <a:spAutoFit/>
          </a:bodyPr>
          <a:lstStyle/>
          <a:p>
            <a:pPr algn="ctr">
              <a:defRPr sz="1400" b="1">
                <a:solidFill>
                  <a:srgbClr val="94A3B8"/>
                </a:solidFill>
                <a:latin typeface="Calibri"/>
              </a:defRPr>
            </a:pPr>
            <a:r>
              <a:t>&gt;&gt;</a:t>
            </a:r>
          </a:p>
        </p:txBody>
      </p:sp>
      <p:sp>
        <p:nvSpPr>
          <p:cNvPr id="22" name="Rounded Rectangle 21"/>
          <p:cNvSpPr/>
          <p:nvPr/>
        </p:nvSpPr>
        <p:spPr>
          <a:xfrm>
            <a:off x="7132320" y="2103120"/>
            <a:ext cx="1828800" cy="1188720"/>
          </a:xfrm>
          <a:prstGeom prst="roundRect">
            <a:avLst/>
          </a:prstGeom>
          <a:solidFill>
            <a:srgbClr val="2D34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269480" y="2194560"/>
            <a:ext cx="822960" cy="228600"/>
          </a:xfrm>
          <a:prstGeom prst="roundRect">
            <a:avLst/>
          </a:prstGeom>
          <a:solidFill>
            <a:srgbClr val="FFB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9480" y="2194560"/>
            <a:ext cx="822960" cy="228600"/>
          </a:xfrm>
          <a:prstGeom prst="rect">
            <a:avLst/>
          </a:prstGeom>
          <a:noFill/>
        </p:spPr>
        <p:txBody>
          <a:bodyPr wrap="square">
            <a:spAutoFit/>
          </a:bodyPr>
          <a:lstStyle/>
          <a:p>
            <a:pPr algn="ctr">
              <a:defRPr sz="800" b="1">
                <a:solidFill>
                  <a:srgbClr val="FFFFFF"/>
                </a:solidFill>
                <a:latin typeface="Calibri"/>
              </a:defRPr>
            </a:pPr>
            <a:r>
              <a:t>SCORE</a:t>
            </a:r>
          </a:p>
        </p:txBody>
      </p:sp>
      <p:sp>
        <p:nvSpPr>
          <p:cNvPr id="25" name="TextBox 24"/>
          <p:cNvSpPr txBox="1"/>
          <p:nvPr/>
        </p:nvSpPr>
        <p:spPr>
          <a:xfrm>
            <a:off x="7269480" y="2514600"/>
            <a:ext cx="1554480" cy="731520"/>
          </a:xfrm>
          <a:prstGeom prst="rect">
            <a:avLst/>
          </a:prstGeom>
          <a:noFill/>
        </p:spPr>
        <p:txBody>
          <a:bodyPr wrap="square">
            <a:spAutoFit/>
          </a:bodyPr>
          <a:lstStyle/>
          <a:p>
            <a:pPr algn="l">
              <a:defRPr sz="800" b="0">
                <a:solidFill>
                  <a:srgbClr val="94A3B8"/>
                </a:solidFill>
                <a:latin typeface="Calibri"/>
              </a:defRPr>
            </a:pPr>
            <a:r>
              <a:t>Each criterion is rated: GOOD = 30 points, WARNING = 15 points, CRITICAL = 0 points. Formula: Score = (total points earned / maximum possible points) x 100. Clamped to 0-100 range.</a:t>
            </a:r>
          </a:p>
        </p:txBody>
      </p:sp>
      <p:sp>
        <p:nvSpPr>
          <p:cNvPr id="26" name="TextBox 25"/>
          <p:cNvSpPr txBox="1"/>
          <p:nvPr/>
        </p:nvSpPr>
        <p:spPr>
          <a:xfrm>
            <a:off x="8961120" y="2514600"/>
            <a:ext cx="274320" cy="457200"/>
          </a:xfrm>
          <a:prstGeom prst="rect">
            <a:avLst/>
          </a:prstGeom>
          <a:noFill/>
        </p:spPr>
        <p:txBody>
          <a:bodyPr wrap="square">
            <a:spAutoFit/>
          </a:bodyPr>
          <a:lstStyle/>
          <a:p>
            <a:pPr algn="ctr">
              <a:defRPr sz="1400" b="1">
                <a:solidFill>
                  <a:srgbClr val="94A3B8"/>
                </a:solidFill>
                <a:latin typeface="Calibri"/>
              </a:defRPr>
            </a:pPr>
            <a:r>
              <a:t>&gt;&gt;</a:t>
            </a:r>
          </a:p>
        </p:txBody>
      </p:sp>
      <p:sp>
        <p:nvSpPr>
          <p:cNvPr id="27" name="Rounded Rectangle 26"/>
          <p:cNvSpPr/>
          <p:nvPr/>
        </p:nvSpPr>
        <p:spPr>
          <a:xfrm>
            <a:off x="9144000" y="2103120"/>
            <a:ext cx="1828800" cy="1188720"/>
          </a:xfrm>
          <a:prstGeom prst="roundRect">
            <a:avLst/>
          </a:prstGeom>
          <a:solidFill>
            <a:srgbClr val="2D34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281160" y="2194560"/>
            <a:ext cx="822960" cy="228600"/>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81160" y="2194560"/>
            <a:ext cx="822960" cy="228600"/>
          </a:xfrm>
          <a:prstGeom prst="rect">
            <a:avLst/>
          </a:prstGeom>
          <a:noFill/>
        </p:spPr>
        <p:txBody>
          <a:bodyPr wrap="square">
            <a:spAutoFit/>
          </a:bodyPr>
          <a:lstStyle/>
          <a:p>
            <a:pPr algn="ctr">
              <a:defRPr sz="800" b="1">
                <a:solidFill>
                  <a:srgbClr val="FFFFFF"/>
                </a:solidFill>
                <a:latin typeface="Calibri"/>
              </a:defRPr>
            </a:pPr>
            <a:r>
              <a:t>OUTPUT</a:t>
            </a:r>
          </a:p>
        </p:txBody>
      </p:sp>
      <p:sp>
        <p:nvSpPr>
          <p:cNvPr id="30" name="TextBox 29"/>
          <p:cNvSpPr txBox="1"/>
          <p:nvPr/>
        </p:nvSpPr>
        <p:spPr>
          <a:xfrm>
            <a:off x="9281160" y="2514600"/>
            <a:ext cx="1554480" cy="731520"/>
          </a:xfrm>
          <a:prstGeom prst="rect">
            <a:avLst/>
          </a:prstGeom>
          <a:noFill/>
        </p:spPr>
        <p:txBody>
          <a:bodyPr wrap="square">
            <a:spAutoFit/>
          </a:bodyPr>
          <a:lstStyle/>
          <a:p>
            <a:pPr algn="l">
              <a:defRPr sz="800" b="0">
                <a:solidFill>
                  <a:srgbClr val="94A3B8"/>
                </a:solidFill>
                <a:latin typeface="Calibri"/>
              </a:defRPr>
            </a:pPr>
            <a:r>
              <a:t>Final AuditResult object with: spaceType, overallScore (0-100), list of AuditIssue objects (each with title, description, severity, recommendation), imagePath, timestamp, locationName.</a:t>
            </a:r>
          </a:p>
        </p:txBody>
      </p:sp>
      <p:sp>
        <p:nvSpPr>
          <p:cNvPr id="31" name="Rounded Rectangle 30"/>
          <p:cNvSpPr/>
          <p:nvPr/>
        </p:nvSpPr>
        <p:spPr>
          <a:xfrm>
            <a:off x="731520" y="3931920"/>
            <a:ext cx="5303520" cy="274320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5840" y="4023360"/>
            <a:ext cx="4754880" cy="365760"/>
          </a:xfrm>
          <a:prstGeom prst="rect">
            <a:avLst/>
          </a:prstGeom>
          <a:noFill/>
        </p:spPr>
        <p:txBody>
          <a:bodyPr wrap="square">
            <a:spAutoFit/>
          </a:bodyPr>
          <a:lstStyle/>
          <a:p>
            <a:pPr algn="l">
              <a:defRPr sz="1300" b="1">
                <a:solidFill>
                  <a:srgbClr val="00D261"/>
                </a:solidFill>
                <a:latin typeface="Calibri"/>
              </a:defRPr>
            </a:pPr>
            <a:r>
              <a:t>Keyword Matching Engine (for custom descriptions)</a:t>
            </a:r>
          </a:p>
        </p:txBody>
      </p:sp>
      <p:sp>
        <p:nvSpPr>
          <p:cNvPr id="33" name="TextBox 32"/>
          <p:cNvSpPr txBox="1"/>
          <p:nvPr/>
        </p:nvSpPr>
        <p:spPr>
          <a:xfrm>
            <a:off x="1005840" y="4434840"/>
            <a:ext cx="4754880" cy="365760"/>
          </a:xfrm>
          <a:prstGeom prst="rect">
            <a:avLst/>
          </a:prstGeom>
          <a:noFill/>
        </p:spPr>
        <p:txBody>
          <a:bodyPr wrap="square">
            <a:spAutoFit/>
          </a:bodyPr>
          <a:lstStyle/>
          <a:p>
            <a:pPr algn="l">
              <a:defRPr sz="900" b="0">
                <a:solidFill>
                  <a:srgbClr val="94A3B8"/>
                </a:solidFill>
                <a:latin typeface="Calibri"/>
              </a:defRPr>
            </a:pPr>
            <a:r>
              <a:t>When user types a custom description instead of picking a preset category,</a:t>
            </a:r>
          </a:p>
        </p:txBody>
      </p:sp>
      <p:sp>
        <p:nvSpPr>
          <p:cNvPr id="34" name="TextBox 33"/>
          <p:cNvSpPr txBox="1"/>
          <p:nvPr/>
        </p:nvSpPr>
        <p:spPr>
          <a:xfrm>
            <a:off x="1005840" y="4709160"/>
            <a:ext cx="4754880" cy="365760"/>
          </a:xfrm>
          <a:prstGeom prst="rect">
            <a:avLst/>
          </a:prstGeom>
          <a:noFill/>
        </p:spPr>
        <p:txBody>
          <a:bodyPr wrap="square">
            <a:spAutoFit/>
          </a:bodyPr>
          <a:lstStyle/>
          <a:p>
            <a:pPr algn="l">
              <a:defRPr sz="900" b="0">
                <a:solidFill>
                  <a:srgbClr val="94A3B8"/>
                </a:solidFill>
                <a:latin typeface="Calibri"/>
              </a:defRPr>
            </a:pPr>
            <a:r>
              <a:t>the engine converts text to lowercase and checks for keywords:</a:t>
            </a:r>
          </a:p>
        </p:txBody>
      </p:sp>
      <p:sp>
        <p:nvSpPr>
          <p:cNvPr id="35" name="TextBox 34"/>
          <p:cNvSpPr txBox="1"/>
          <p:nvPr/>
        </p:nvSpPr>
        <p:spPr>
          <a:xfrm>
            <a:off x="1188720" y="5029200"/>
            <a:ext cx="2743200" cy="201168"/>
          </a:xfrm>
          <a:prstGeom prst="rect">
            <a:avLst/>
          </a:prstGeom>
          <a:noFill/>
        </p:spPr>
        <p:txBody>
          <a:bodyPr wrap="square">
            <a:spAutoFit/>
          </a:bodyPr>
          <a:lstStyle/>
          <a:p>
            <a:pPr algn="l">
              <a:defRPr sz="800" b="0">
                <a:solidFill>
                  <a:srgbClr val="94A3B8"/>
                </a:solidFill>
                <a:latin typeface="Consolas"/>
              </a:defRPr>
            </a:pPr>
            <a:r>
              <a:t>'road', 'street', 'sidewalk', 'path'</a:t>
            </a:r>
          </a:p>
        </p:txBody>
      </p:sp>
      <p:sp>
        <p:nvSpPr>
          <p:cNvPr id="36" name="TextBox 35"/>
          <p:cNvSpPr txBox="1"/>
          <p:nvPr/>
        </p:nvSpPr>
        <p:spPr>
          <a:xfrm>
            <a:off x="3657600" y="5029200"/>
            <a:ext cx="1645920" cy="201168"/>
          </a:xfrm>
          <a:prstGeom prst="rect">
            <a:avLst/>
          </a:prstGeom>
          <a:noFill/>
        </p:spPr>
        <p:txBody>
          <a:bodyPr wrap="square">
            <a:spAutoFit/>
          </a:bodyPr>
          <a:lstStyle/>
          <a:p>
            <a:pPr algn="l">
              <a:defRPr sz="800" b="1">
                <a:solidFill>
                  <a:srgbClr val="00D261"/>
                </a:solidFill>
                <a:latin typeface="Calibri"/>
              </a:defRPr>
            </a:pPr>
            <a:r>
              <a:t>&gt;&gt; Road / Pathway</a:t>
            </a:r>
          </a:p>
        </p:txBody>
      </p:sp>
      <p:sp>
        <p:nvSpPr>
          <p:cNvPr id="37" name="TextBox 36"/>
          <p:cNvSpPr txBox="1"/>
          <p:nvPr/>
        </p:nvSpPr>
        <p:spPr>
          <a:xfrm>
            <a:off x="1188720" y="5230368"/>
            <a:ext cx="2743200" cy="201168"/>
          </a:xfrm>
          <a:prstGeom prst="rect">
            <a:avLst/>
          </a:prstGeom>
          <a:noFill/>
        </p:spPr>
        <p:txBody>
          <a:bodyPr wrap="square">
            <a:spAutoFit/>
          </a:bodyPr>
          <a:lstStyle/>
          <a:p>
            <a:pPr algn="l">
              <a:defRPr sz="800" b="0">
                <a:solidFill>
                  <a:srgbClr val="94A3B8"/>
                </a:solidFill>
                <a:latin typeface="Consolas"/>
              </a:defRPr>
            </a:pPr>
            <a:r>
              <a:t>'home', 'house', 'apartment', 'flat'</a:t>
            </a:r>
          </a:p>
        </p:txBody>
      </p:sp>
      <p:sp>
        <p:nvSpPr>
          <p:cNvPr id="38" name="TextBox 37"/>
          <p:cNvSpPr txBox="1"/>
          <p:nvPr/>
        </p:nvSpPr>
        <p:spPr>
          <a:xfrm>
            <a:off x="3657600" y="5230368"/>
            <a:ext cx="1645920" cy="201168"/>
          </a:xfrm>
          <a:prstGeom prst="rect">
            <a:avLst/>
          </a:prstGeom>
          <a:noFill/>
        </p:spPr>
        <p:txBody>
          <a:bodyPr wrap="square">
            <a:spAutoFit/>
          </a:bodyPr>
          <a:lstStyle/>
          <a:p>
            <a:pPr algn="l">
              <a:defRPr sz="800" b="1">
                <a:solidFill>
                  <a:srgbClr val="00D261"/>
                </a:solidFill>
                <a:latin typeface="Calibri"/>
              </a:defRPr>
            </a:pPr>
            <a:r>
              <a:t>&gt;&gt; Home / Residential</a:t>
            </a:r>
          </a:p>
        </p:txBody>
      </p:sp>
      <p:sp>
        <p:nvSpPr>
          <p:cNvPr id="39" name="TextBox 38"/>
          <p:cNvSpPr txBox="1"/>
          <p:nvPr/>
        </p:nvSpPr>
        <p:spPr>
          <a:xfrm>
            <a:off x="1188720" y="5431536"/>
            <a:ext cx="2743200" cy="201168"/>
          </a:xfrm>
          <a:prstGeom prst="rect">
            <a:avLst/>
          </a:prstGeom>
          <a:noFill/>
        </p:spPr>
        <p:txBody>
          <a:bodyPr wrap="square">
            <a:spAutoFit/>
          </a:bodyPr>
          <a:lstStyle/>
          <a:p>
            <a:pPr algn="l">
              <a:defRPr sz="800" b="0">
                <a:solidFill>
                  <a:srgbClr val="94A3B8"/>
                </a:solidFill>
                <a:latin typeface="Consolas"/>
              </a:defRPr>
            </a:pPr>
            <a:r>
              <a:t>'hospital', 'clinic', 'medical'</a:t>
            </a:r>
          </a:p>
        </p:txBody>
      </p:sp>
      <p:sp>
        <p:nvSpPr>
          <p:cNvPr id="40" name="TextBox 39"/>
          <p:cNvSpPr txBox="1"/>
          <p:nvPr/>
        </p:nvSpPr>
        <p:spPr>
          <a:xfrm>
            <a:off x="3657600" y="5431536"/>
            <a:ext cx="1645920" cy="201168"/>
          </a:xfrm>
          <a:prstGeom prst="rect">
            <a:avLst/>
          </a:prstGeom>
          <a:noFill/>
        </p:spPr>
        <p:txBody>
          <a:bodyPr wrap="square">
            <a:spAutoFit/>
          </a:bodyPr>
          <a:lstStyle/>
          <a:p>
            <a:pPr algn="l">
              <a:defRPr sz="800" b="1">
                <a:solidFill>
                  <a:srgbClr val="00D261"/>
                </a:solidFill>
                <a:latin typeface="Calibri"/>
              </a:defRPr>
            </a:pPr>
            <a:r>
              <a:t>&gt;&gt; Hospital / Medical</a:t>
            </a:r>
          </a:p>
        </p:txBody>
      </p:sp>
      <p:sp>
        <p:nvSpPr>
          <p:cNvPr id="41" name="TextBox 40"/>
          <p:cNvSpPr txBox="1"/>
          <p:nvPr/>
        </p:nvSpPr>
        <p:spPr>
          <a:xfrm>
            <a:off x="1188720" y="5632703"/>
            <a:ext cx="2743200" cy="201168"/>
          </a:xfrm>
          <a:prstGeom prst="rect">
            <a:avLst/>
          </a:prstGeom>
          <a:noFill/>
        </p:spPr>
        <p:txBody>
          <a:bodyPr wrap="square">
            <a:spAutoFit/>
          </a:bodyPr>
          <a:lstStyle/>
          <a:p>
            <a:pPr algn="l">
              <a:defRPr sz="800" b="0">
                <a:solidFill>
                  <a:srgbClr val="94A3B8"/>
                </a:solidFill>
                <a:latin typeface="Consolas"/>
              </a:defRPr>
            </a:pPr>
            <a:r>
              <a:t>'mall', 'shop', 'store', 'market'</a:t>
            </a:r>
          </a:p>
        </p:txBody>
      </p:sp>
      <p:sp>
        <p:nvSpPr>
          <p:cNvPr id="42" name="TextBox 41"/>
          <p:cNvSpPr txBox="1"/>
          <p:nvPr/>
        </p:nvSpPr>
        <p:spPr>
          <a:xfrm>
            <a:off x="3657600" y="5632703"/>
            <a:ext cx="1645920" cy="201168"/>
          </a:xfrm>
          <a:prstGeom prst="rect">
            <a:avLst/>
          </a:prstGeom>
          <a:noFill/>
        </p:spPr>
        <p:txBody>
          <a:bodyPr wrap="square">
            <a:spAutoFit/>
          </a:bodyPr>
          <a:lstStyle/>
          <a:p>
            <a:pPr algn="l">
              <a:defRPr sz="800" b="1">
                <a:solidFill>
                  <a:srgbClr val="00D261"/>
                </a:solidFill>
                <a:latin typeface="Calibri"/>
              </a:defRPr>
            </a:pPr>
            <a:r>
              <a:t>&gt;&gt; Mall / Commercial</a:t>
            </a:r>
          </a:p>
        </p:txBody>
      </p:sp>
      <p:sp>
        <p:nvSpPr>
          <p:cNvPr id="43" name="TextBox 42"/>
          <p:cNvSpPr txBox="1"/>
          <p:nvPr/>
        </p:nvSpPr>
        <p:spPr>
          <a:xfrm>
            <a:off x="1188720" y="5833871"/>
            <a:ext cx="2743200" cy="201168"/>
          </a:xfrm>
          <a:prstGeom prst="rect">
            <a:avLst/>
          </a:prstGeom>
          <a:noFill/>
        </p:spPr>
        <p:txBody>
          <a:bodyPr wrap="square">
            <a:spAutoFit/>
          </a:bodyPr>
          <a:lstStyle/>
          <a:p>
            <a:pPr algn="l">
              <a:defRPr sz="800" b="0">
                <a:solidFill>
                  <a:srgbClr val="94A3B8"/>
                </a:solidFill>
                <a:latin typeface="Consolas"/>
              </a:defRPr>
            </a:pPr>
            <a:r>
              <a:t>'bus', 'metro', 'station', 'transit'</a:t>
            </a:r>
          </a:p>
        </p:txBody>
      </p:sp>
      <p:sp>
        <p:nvSpPr>
          <p:cNvPr id="44" name="TextBox 43"/>
          <p:cNvSpPr txBox="1"/>
          <p:nvPr/>
        </p:nvSpPr>
        <p:spPr>
          <a:xfrm>
            <a:off x="3657600" y="5833871"/>
            <a:ext cx="1645920" cy="201168"/>
          </a:xfrm>
          <a:prstGeom prst="rect">
            <a:avLst/>
          </a:prstGeom>
          <a:noFill/>
        </p:spPr>
        <p:txBody>
          <a:bodyPr wrap="square">
            <a:spAutoFit/>
          </a:bodyPr>
          <a:lstStyle/>
          <a:p>
            <a:pPr algn="l">
              <a:defRPr sz="800" b="1">
                <a:solidFill>
                  <a:srgbClr val="00D261"/>
                </a:solidFill>
                <a:latin typeface="Calibri"/>
              </a:defRPr>
            </a:pPr>
            <a:r>
              <a:t>&gt;&gt; Transit / Bus Stop</a:t>
            </a:r>
          </a:p>
        </p:txBody>
      </p:sp>
      <p:sp>
        <p:nvSpPr>
          <p:cNvPr id="45" name="TextBox 44"/>
          <p:cNvSpPr txBox="1"/>
          <p:nvPr/>
        </p:nvSpPr>
        <p:spPr>
          <a:xfrm>
            <a:off x="1188720" y="6035039"/>
            <a:ext cx="2743200" cy="201168"/>
          </a:xfrm>
          <a:prstGeom prst="rect">
            <a:avLst/>
          </a:prstGeom>
          <a:noFill/>
        </p:spPr>
        <p:txBody>
          <a:bodyPr wrap="square">
            <a:spAutoFit/>
          </a:bodyPr>
          <a:lstStyle/>
          <a:p>
            <a:pPr algn="l">
              <a:defRPr sz="800" b="0">
                <a:solidFill>
                  <a:srgbClr val="94A3B8"/>
                </a:solidFill>
                <a:latin typeface="Consolas"/>
              </a:defRPr>
            </a:pPr>
            <a:r>
              <a:t>'garden', 'park', 'outdoor', 'field'</a:t>
            </a:r>
          </a:p>
        </p:txBody>
      </p:sp>
      <p:sp>
        <p:nvSpPr>
          <p:cNvPr id="46" name="TextBox 45"/>
          <p:cNvSpPr txBox="1"/>
          <p:nvPr/>
        </p:nvSpPr>
        <p:spPr>
          <a:xfrm>
            <a:off x="3657600" y="6035039"/>
            <a:ext cx="1645920" cy="201168"/>
          </a:xfrm>
          <a:prstGeom prst="rect">
            <a:avLst/>
          </a:prstGeom>
          <a:noFill/>
        </p:spPr>
        <p:txBody>
          <a:bodyPr wrap="square">
            <a:spAutoFit/>
          </a:bodyPr>
          <a:lstStyle/>
          <a:p>
            <a:pPr algn="l">
              <a:defRPr sz="800" b="1">
                <a:solidFill>
                  <a:srgbClr val="00D261"/>
                </a:solidFill>
                <a:latin typeface="Calibri"/>
              </a:defRPr>
            </a:pPr>
            <a:r>
              <a:t>&gt;&gt; Garden / Outdoor</a:t>
            </a:r>
          </a:p>
        </p:txBody>
      </p:sp>
      <p:sp>
        <p:nvSpPr>
          <p:cNvPr id="47" name="TextBox 46"/>
          <p:cNvSpPr txBox="1"/>
          <p:nvPr/>
        </p:nvSpPr>
        <p:spPr>
          <a:xfrm>
            <a:off x="1188720" y="6236207"/>
            <a:ext cx="2743200" cy="201168"/>
          </a:xfrm>
          <a:prstGeom prst="rect">
            <a:avLst/>
          </a:prstGeom>
          <a:noFill/>
        </p:spPr>
        <p:txBody>
          <a:bodyPr wrap="square">
            <a:spAutoFit/>
          </a:bodyPr>
          <a:lstStyle/>
          <a:p>
            <a:pPr algn="l">
              <a:defRPr sz="800" b="0">
                <a:solidFill>
                  <a:srgbClr val="94A3B8"/>
                </a:solidFill>
                <a:latin typeface="Consolas"/>
              </a:defRPr>
            </a:pPr>
            <a:r>
              <a:t>'office', 'lobby', 'building', 'corridor'</a:t>
            </a:r>
          </a:p>
        </p:txBody>
      </p:sp>
      <p:sp>
        <p:nvSpPr>
          <p:cNvPr id="48" name="TextBox 47"/>
          <p:cNvSpPr txBox="1"/>
          <p:nvPr/>
        </p:nvSpPr>
        <p:spPr>
          <a:xfrm>
            <a:off x="3657600" y="6236207"/>
            <a:ext cx="1645920" cy="201168"/>
          </a:xfrm>
          <a:prstGeom prst="rect">
            <a:avLst/>
          </a:prstGeom>
          <a:noFill/>
        </p:spPr>
        <p:txBody>
          <a:bodyPr wrap="square">
            <a:spAutoFit/>
          </a:bodyPr>
          <a:lstStyle/>
          <a:p>
            <a:pPr algn="l">
              <a:defRPr sz="800" b="1">
                <a:solidFill>
                  <a:srgbClr val="00D261"/>
                </a:solidFill>
                <a:latin typeface="Calibri"/>
              </a:defRPr>
            </a:pPr>
            <a:r>
              <a:t>&gt;&gt; Office / Building</a:t>
            </a:r>
          </a:p>
        </p:txBody>
      </p:sp>
      <p:sp>
        <p:nvSpPr>
          <p:cNvPr id="49" name="TextBox 48"/>
          <p:cNvSpPr txBox="1"/>
          <p:nvPr/>
        </p:nvSpPr>
        <p:spPr>
          <a:xfrm>
            <a:off x="1188720" y="6437375"/>
            <a:ext cx="2743200" cy="201168"/>
          </a:xfrm>
          <a:prstGeom prst="rect">
            <a:avLst/>
          </a:prstGeom>
          <a:noFill/>
        </p:spPr>
        <p:txBody>
          <a:bodyPr wrap="square">
            <a:spAutoFit/>
          </a:bodyPr>
          <a:lstStyle/>
          <a:p>
            <a:pPr algn="l">
              <a:defRPr sz="800" b="0">
                <a:solidFill>
                  <a:srgbClr val="94A3B8"/>
                </a:solidFill>
                <a:latin typeface="Consolas"/>
              </a:defRPr>
            </a:pPr>
            <a:r>
              <a:t>No match found</a:t>
            </a:r>
          </a:p>
        </p:txBody>
      </p:sp>
      <p:sp>
        <p:nvSpPr>
          <p:cNvPr id="50" name="TextBox 49"/>
          <p:cNvSpPr txBox="1"/>
          <p:nvPr/>
        </p:nvSpPr>
        <p:spPr>
          <a:xfrm>
            <a:off x="3657600" y="6437375"/>
            <a:ext cx="1645920" cy="201168"/>
          </a:xfrm>
          <a:prstGeom prst="rect">
            <a:avLst/>
          </a:prstGeom>
          <a:noFill/>
        </p:spPr>
        <p:txBody>
          <a:bodyPr wrap="square">
            <a:spAutoFit/>
          </a:bodyPr>
          <a:lstStyle/>
          <a:p>
            <a:pPr algn="l">
              <a:defRPr sz="800" b="1">
                <a:solidFill>
                  <a:srgbClr val="00D261"/>
                </a:solidFill>
                <a:latin typeface="Calibri"/>
              </a:defRPr>
            </a:pPr>
            <a:r>
              <a:t>&gt;&gt; Generic Accessibility Check</a:t>
            </a:r>
          </a:p>
        </p:txBody>
      </p:sp>
      <p:sp>
        <p:nvSpPr>
          <p:cNvPr id="51" name="Rounded Rectangle 50"/>
          <p:cNvSpPr/>
          <p:nvPr/>
        </p:nvSpPr>
        <p:spPr>
          <a:xfrm>
            <a:off x="6400800" y="3931920"/>
            <a:ext cx="5029200" cy="274320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675120" y="4023360"/>
            <a:ext cx="4572000" cy="365760"/>
          </a:xfrm>
          <a:prstGeom prst="rect">
            <a:avLst/>
          </a:prstGeom>
          <a:noFill/>
        </p:spPr>
        <p:txBody>
          <a:bodyPr wrap="square">
            <a:spAutoFit/>
          </a:bodyPr>
          <a:lstStyle/>
          <a:p>
            <a:pPr algn="l">
              <a:defRPr sz="1300" b="1">
                <a:solidFill>
                  <a:srgbClr val="00D261"/>
                </a:solidFill>
                <a:latin typeface="Calibri"/>
              </a:defRPr>
            </a:pPr>
            <a:r>
              <a:t>Score Calculation Formula</a:t>
            </a:r>
          </a:p>
        </p:txBody>
      </p:sp>
      <p:sp>
        <p:nvSpPr>
          <p:cNvPr id="53" name="TextBox 52"/>
          <p:cNvSpPr txBox="1"/>
          <p:nvPr/>
        </p:nvSpPr>
        <p:spPr>
          <a:xfrm>
            <a:off x="6675120" y="4480560"/>
            <a:ext cx="4572000" cy="274320"/>
          </a:xfrm>
          <a:prstGeom prst="rect">
            <a:avLst/>
          </a:prstGeom>
          <a:noFill/>
        </p:spPr>
        <p:txBody>
          <a:bodyPr wrap="square">
            <a:spAutoFit/>
          </a:bodyPr>
          <a:lstStyle/>
          <a:p>
            <a:pPr algn="l">
              <a:defRPr sz="1000" b="0">
                <a:solidFill>
                  <a:srgbClr val="94A3B8"/>
                </a:solidFill>
                <a:latin typeface="Calibri"/>
              </a:defRPr>
            </a:pPr>
            <a:r>
              <a:t>Each criterion gets a severity rating:</a:t>
            </a:r>
          </a:p>
        </p:txBody>
      </p:sp>
      <p:sp>
        <p:nvSpPr>
          <p:cNvPr id="54" name="TextBox 53"/>
          <p:cNvSpPr txBox="1"/>
          <p:nvPr/>
        </p:nvSpPr>
        <p:spPr>
          <a:xfrm>
            <a:off x="6858000" y="4800600"/>
            <a:ext cx="1645920" cy="228600"/>
          </a:xfrm>
          <a:prstGeom prst="rect">
            <a:avLst/>
          </a:prstGeom>
          <a:noFill/>
        </p:spPr>
        <p:txBody>
          <a:bodyPr wrap="square">
            <a:spAutoFit/>
          </a:bodyPr>
          <a:lstStyle/>
          <a:p>
            <a:pPr algn="l">
              <a:defRPr sz="1100" b="1">
                <a:solidFill>
                  <a:srgbClr val="00D261"/>
                </a:solidFill>
                <a:latin typeface="Calibri"/>
              </a:defRPr>
            </a:pPr>
            <a:r>
              <a:t>GOOD</a:t>
            </a:r>
          </a:p>
        </p:txBody>
      </p:sp>
      <p:sp>
        <p:nvSpPr>
          <p:cNvPr id="55" name="TextBox 54"/>
          <p:cNvSpPr txBox="1"/>
          <p:nvPr/>
        </p:nvSpPr>
        <p:spPr>
          <a:xfrm>
            <a:off x="8229600" y="4800600"/>
            <a:ext cx="2286000" cy="228600"/>
          </a:xfrm>
          <a:prstGeom prst="rect">
            <a:avLst/>
          </a:prstGeom>
          <a:noFill/>
        </p:spPr>
        <p:txBody>
          <a:bodyPr wrap="square">
            <a:spAutoFit/>
          </a:bodyPr>
          <a:lstStyle/>
          <a:p>
            <a:pPr algn="l">
              <a:defRPr sz="1000" b="0">
                <a:solidFill>
                  <a:srgbClr val="94A3B8"/>
                </a:solidFill>
                <a:latin typeface="Calibri"/>
              </a:defRPr>
            </a:pPr>
            <a:r>
              <a:t>= 30 points (meets standards)</a:t>
            </a:r>
          </a:p>
        </p:txBody>
      </p:sp>
      <p:sp>
        <p:nvSpPr>
          <p:cNvPr id="56" name="TextBox 55"/>
          <p:cNvSpPr txBox="1"/>
          <p:nvPr/>
        </p:nvSpPr>
        <p:spPr>
          <a:xfrm>
            <a:off x="6858000" y="5029200"/>
            <a:ext cx="1645920" cy="228600"/>
          </a:xfrm>
          <a:prstGeom prst="rect">
            <a:avLst/>
          </a:prstGeom>
          <a:noFill/>
        </p:spPr>
        <p:txBody>
          <a:bodyPr wrap="square">
            <a:spAutoFit/>
          </a:bodyPr>
          <a:lstStyle/>
          <a:p>
            <a:pPr algn="l">
              <a:defRPr sz="1100" b="1">
                <a:solidFill>
                  <a:srgbClr val="FFB020"/>
                </a:solidFill>
                <a:latin typeface="Calibri"/>
              </a:defRPr>
            </a:pPr>
            <a:r>
              <a:t>WARNING</a:t>
            </a:r>
          </a:p>
        </p:txBody>
      </p:sp>
      <p:sp>
        <p:nvSpPr>
          <p:cNvPr id="57" name="TextBox 56"/>
          <p:cNvSpPr txBox="1"/>
          <p:nvPr/>
        </p:nvSpPr>
        <p:spPr>
          <a:xfrm>
            <a:off x="8229600" y="5029200"/>
            <a:ext cx="2286000" cy="228600"/>
          </a:xfrm>
          <a:prstGeom prst="rect">
            <a:avLst/>
          </a:prstGeom>
          <a:noFill/>
        </p:spPr>
        <p:txBody>
          <a:bodyPr wrap="square">
            <a:spAutoFit/>
          </a:bodyPr>
          <a:lstStyle/>
          <a:p>
            <a:pPr algn="l">
              <a:defRPr sz="1000" b="0">
                <a:solidFill>
                  <a:srgbClr val="94A3B8"/>
                </a:solidFill>
                <a:latin typeface="Calibri"/>
              </a:defRPr>
            </a:pPr>
            <a:r>
              <a:t>= 15 points (needs improvement)</a:t>
            </a:r>
          </a:p>
        </p:txBody>
      </p:sp>
      <p:sp>
        <p:nvSpPr>
          <p:cNvPr id="58" name="TextBox 57"/>
          <p:cNvSpPr txBox="1"/>
          <p:nvPr/>
        </p:nvSpPr>
        <p:spPr>
          <a:xfrm>
            <a:off x="6858000" y="5257800"/>
            <a:ext cx="1645920" cy="228600"/>
          </a:xfrm>
          <a:prstGeom prst="rect">
            <a:avLst/>
          </a:prstGeom>
          <a:noFill/>
        </p:spPr>
        <p:txBody>
          <a:bodyPr wrap="square">
            <a:spAutoFit/>
          </a:bodyPr>
          <a:lstStyle/>
          <a:p>
            <a:pPr algn="l">
              <a:defRPr sz="1100" b="1">
                <a:solidFill>
                  <a:srgbClr val="EF4444"/>
                </a:solidFill>
                <a:latin typeface="Calibri"/>
              </a:defRPr>
            </a:pPr>
            <a:r>
              <a:t>CRITICAL</a:t>
            </a:r>
          </a:p>
        </p:txBody>
      </p:sp>
      <p:sp>
        <p:nvSpPr>
          <p:cNvPr id="59" name="TextBox 58"/>
          <p:cNvSpPr txBox="1"/>
          <p:nvPr/>
        </p:nvSpPr>
        <p:spPr>
          <a:xfrm>
            <a:off x="8229600" y="5257800"/>
            <a:ext cx="2286000" cy="228600"/>
          </a:xfrm>
          <a:prstGeom prst="rect">
            <a:avLst/>
          </a:prstGeom>
          <a:noFill/>
        </p:spPr>
        <p:txBody>
          <a:bodyPr wrap="square">
            <a:spAutoFit/>
          </a:bodyPr>
          <a:lstStyle/>
          <a:p>
            <a:pPr algn="l">
              <a:defRPr sz="1000" b="0">
                <a:solidFill>
                  <a:srgbClr val="94A3B8"/>
                </a:solidFill>
                <a:latin typeface="Calibri"/>
              </a:defRPr>
            </a:pPr>
            <a:r>
              <a:t>= 0 points (fails standard)</a:t>
            </a:r>
          </a:p>
        </p:txBody>
      </p:sp>
      <p:sp>
        <p:nvSpPr>
          <p:cNvPr id="60" name="TextBox 59"/>
          <p:cNvSpPr txBox="1"/>
          <p:nvPr/>
        </p:nvSpPr>
        <p:spPr>
          <a:xfrm>
            <a:off x="6675120" y="5623560"/>
            <a:ext cx="4572000" cy="274320"/>
          </a:xfrm>
          <a:prstGeom prst="rect">
            <a:avLst/>
          </a:prstGeom>
          <a:noFill/>
        </p:spPr>
        <p:txBody>
          <a:bodyPr wrap="square">
            <a:spAutoFit/>
          </a:bodyPr>
          <a:lstStyle/>
          <a:p>
            <a:pPr algn="l">
              <a:defRPr sz="1000" b="1">
                <a:solidFill>
                  <a:srgbClr val="94A3B8"/>
                </a:solidFill>
                <a:latin typeface="Calibri"/>
              </a:defRPr>
            </a:pPr>
            <a:r>
              <a:t>Formula:</a:t>
            </a:r>
          </a:p>
        </p:txBody>
      </p:sp>
      <p:sp>
        <p:nvSpPr>
          <p:cNvPr id="61" name="Rounded Rectangle 60"/>
          <p:cNvSpPr/>
          <p:nvPr/>
        </p:nvSpPr>
        <p:spPr>
          <a:xfrm>
            <a:off x="6675120" y="5897880"/>
            <a:ext cx="4114800" cy="365760"/>
          </a:xfrm>
          <a:prstGeom prst="roundRect">
            <a:avLst/>
          </a:prstGeom>
          <a:solidFill>
            <a:srgbClr val="2D34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858000" y="5897880"/>
            <a:ext cx="3657600" cy="365760"/>
          </a:xfrm>
          <a:prstGeom prst="rect">
            <a:avLst/>
          </a:prstGeom>
          <a:noFill/>
        </p:spPr>
        <p:txBody>
          <a:bodyPr wrap="square">
            <a:spAutoFit/>
          </a:bodyPr>
          <a:lstStyle/>
          <a:p>
            <a:pPr algn="ctr">
              <a:defRPr sz="1200" b="1">
                <a:solidFill>
                  <a:srgbClr val="00D261"/>
                </a:solidFill>
                <a:latin typeface="Consolas"/>
              </a:defRPr>
            </a:pPr>
            <a:r>
              <a:t>Score = (Total Points / Max Points) x 100</a:t>
            </a:r>
          </a:p>
        </p:txBody>
      </p:sp>
      <p:sp>
        <p:nvSpPr>
          <p:cNvPr id="63" name="TextBox 62"/>
          <p:cNvSpPr txBox="1"/>
          <p:nvPr/>
        </p:nvSpPr>
        <p:spPr>
          <a:xfrm>
            <a:off x="6675120" y="6355080"/>
            <a:ext cx="4572000" cy="274320"/>
          </a:xfrm>
          <a:prstGeom prst="rect">
            <a:avLst/>
          </a:prstGeom>
          <a:noFill/>
        </p:spPr>
        <p:txBody>
          <a:bodyPr wrap="square">
            <a:spAutoFit/>
          </a:bodyPr>
          <a:lstStyle/>
          <a:p>
            <a:pPr algn="l">
              <a:defRPr sz="900" b="0">
                <a:solidFill>
                  <a:srgbClr val="94A3B8"/>
                </a:solidFill>
                <a:latin typeface="Calibri"/>
              </a:defRPr>
            </a:pPr>
            <a:r>
              <a:t>Example: Ramp has 4 criteria. 3 GOOD + 1 WARNING = (90+15)/120 x 100 = 88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640080"/>
          </a:xfrm>
          <a:prstGeom prst="rect">
            <a:avLst/>
          </a:prstGeom>
          <a:noFill/>
        </p:spPr>
        <p:txBody>
          <a:bodyPr wrap="square">
            <a:spAutoFit/>
          </a:bodyPr>
          <a:lstStyle/>
          <a:p>
            <a:pPr algn="l">
              <a:defRPr sz="3600" b="1">
                <a:solidFill>
                  <a:srgbClr val="0F172A"/>
                </a:solidFill>
                <a:latin typeface="Calibri"/>
              </a:defRPr>
            </a:pPr>
            <a:r>
              <a:t>AI Scoring — All 12+ Categories</a:t>
            </a:r>
          </a:p>
        </p:txBody>
      </p:sp>
      <p:sp>
        <p:nvSpPr>
          <p:cNvPr id="4" name="TextBox 3"/>
          <p:cNvSpPr txBox="1"/>
          <p:nvPr/>
        </p:nvSpPr>
        <p:spPr>
          <a:xfrm>
            <a:off x="731520" y="914400"/>
            <a:ext cx="9144000" cy="457200"/>
          </a:xfrm>
          <a:prstGeom prst="rect">
            <a:avLst/>
          </a:prstGeom>
          <a:noFill/>
        </p:spPr>
        <p:txBody>
          <a:bodyPr wrap="square">
            <a:spAutoFit/>
          </a:bodyPr>
          <a:lstStyle/>
          <a:p>
            <a:pPr algn="l">
              <a:defRPr sz="1500" b="0">
                <a:solidFill>
                  <a:srgbClr val="64748B"/>
                </a:solidFill>
                <a:latin typeface="Calibri"/>
              </a:defRPr>
            </a:pPr>
            <a:r>
              <a:t>Every space type the app can analyze, with its specific accessibility criteria</a:t>
            </a:r>
          </a:p>
        </p:txBody>
      </p:sp>
      <p:sp>
        <p:nvSpPr>
          <p:cNvPr id="5" name="Rounded Rectangle 4"/>
          <p:cNvSpPr/>
          <p:nvPr/>
        </p:nvSpPr>
        <p:spPr>
          <a:xfrm>
            <a:off x="731520" y="1463040"/>
            <a:ext cx="347472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63040"/>
            <a:ext cx="64008" cy="1143000"/>
          </a:xfrm>
          <a:prstGeom prst="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36192"/>
            <a:ext cx="1371600" cy="228600"/>
          </a:xfrm>
          <a:prstGeom prst="rect">
            <a:avLst/>
          </a:prstGeom>
          <a:noFill/>
        </p:spPr>
        <p:txBody>
          <a:bodyPr wrap="square">
            <a:spAutoFit/>
          </a:bodyPr>
          <a:lstStyle/>
          <a:p>
            <a:pPr algn="l">
              <a:defRPr sz="1200" b="1">
                <a:solidFill>
                  <a:srgbClr val="00D261"/>
                </a:solidFill>
                <a:latin typeface="Calibri"/>
              </a:defRPr>
            </a:pPr>
            <a:r>
              <a:t>Ramp</a:t>
            </a:r>
          </a:p>
        </p:txBody>
      </p:sp>
      <p:sp>
        <p:nvSpPr>
          <p:cNvPr id="8" name="TextBox 7"/>
          <p:cNvSpPr txBox="1"/>
          <p:nvPr/>
        </p:nvSpPr>
        <p:spPr>
          <a:xfrm>
            <a:off x="3291839" y="1536192"/>
            <a:ext cx="731520" cy="228600"/>
          </a:xfrm>
          <a:prstGeom prst="rect">
            <a:avLst/>
          </a:prstGeom>
          <a:noFill/>
        </p:spPr>
        <p:txBody>
          <a:bodyPr wrap="square">
            <a:spAutoFit/>
          </a:bodyPr>
          <a:lstStyle/>
          <a:p>
            <a:pPr algn="l">
              <a:defRPr sz="800" b="0">
                <a:solidFill>
                  <a:srgbClr val="94A3B8"/>
                </a:solidFill>
                <a:latin typeface="Calibri"/>
              </a:defRPr>
            </a:pPr>
            <a:r>
              <a:t>4 criteria</a:t>
            </a:r>
          </a:p>
        </p:txBody>
      </p:sp>
      <p:sp>
        <p:nvSpPr>
          <p:cNvPr id="9" name="TextBox 8"/>
          <p:cNvSpPr txBox="1"/>
          <p:nvPr/>
        </p:nvSpPr>
        <p:spPr>
          <a:xfrm>
            <a:off x="960120" y="1828800"/>
            <a:ext cx="3017520" cy="731520"/>
          </a:xfrm>
          <a:prstGeom prst="rect">
            <a:avLst/>
          </a:prstGeom>
          <a:noFill/>
        </p:spPr>
        <p:txBody>
          <a:bodyPr wrap="square">
            <a:spAutoFit/>
          </a:bodyPr>
          <a:lstStyle/>
          <a:p>
            <a:pPr algn="l">
              <a:defRPr sz="900" b="0">
                <a:solidFill>
                  <a:srgbClr val="64748B"/>
                </a:solidFill>
                <a:latin typeface="Calibri"/>
              </a:defRPr>
            </a:pPr>
            <a:r>
              <a:t>Handrails (both sides), Slope Angle (1:12 ratio), Surface Texture (non-slip), Width (&gt;90cm)</a:t>
            </a:r>
          </a:p>
        </p:txBody>
      </p:sp>
      <p:sp>
        <p:nvSpPr>
          <p:cNvPr id="10" name="Rounded Rectangle 9"/>
          <p:cNvSpPr/>
          <p:nvPr/>
        </p:nvSpPr>
        <p:spPr>
          <a:xfrm>
            <a:off x="4480559" y="1463040"/>
            <a:ext cx="347472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80559" y="1463040"/>
            <a:ext cx="64008" cy="1143000"/>
          </a:xfrm>
          <a:prstGeom prst="rect">
            <a:avLst/>
          </a:prstGeom>
          <a:solidFill>
            <a:srgbClr val="4F7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59" y="1536192"/>
            <a:ext cx="1371600" cy="228600"/>
          </a:xfrm>
          <a:prstGeom prst="rect">
            <a:avLst/>
          </a:prstGeom>
          <a:noFill/>
        </p:spPr>
        <p:txBody>
          <a:bodyPr wrap="square">
            <a:spAutoFit/>
          </a:bodyPr>
          <a:lstStyle/>
          <a:p>
            <a:pPr algn="l">
              <a:defRPr sz="1200" b="1">
                <a:solidFill>
                  <a:srgbClr val="4F7DF7"/>
                </a:solidFill>
                <a:latin typeface="Calibri"/>
              </a:defRPr>
            </a:pPr>
            <a:r>
              <a:t>Doorway</a:t>
            </a:r>
          </a:p>
        </p:txBody>
      </p:sp>
      <p:sp>
        <p:nvSpPr>
          <p:cNvPr id="13" name="TextBox 12"/>
          <p:cNvSpPr txBox="1"/>
          <p:nvPr/>
        </p:nvSpPr>
        <p:spPr>
          <a:xfrm>
            <a:off x="7040879" y="1536192"/>
            <a:ext cx="731520" cy="228600"/>
          </a:xfrm>
          <a:prstGeom prst="rect">
            <a:avLst/>
          </a:prstGeom>
          <a:noFill/>
        </p:spPr>
        <p:txBody>
          <a:bodyPr wrap="square">
            <a:spAutoFit/>
          </a:bodyPr>
          <a:lstStyle/>
          <a:p>
            <a:pPr algn="l">
              <a:defRPr sz="800" b="0">
                <a:solidFill>
                  <a:srgbClr val="94A3B8"/>
                </a:solidFill>
                <a:latin typeface="Calibri"/>
              </a:defRPr>
            </a:pPr>
            <a:r>
              <a:t>3 criteria</a:t>
            </a:r>
          </a:p>
        </p:txBody>
      </p:sp>
      <p:sp>
        <p:nvSpPr>
          <p:cNvPr id="14" name="TextBox 13"/>
          <p:cNvSpPr txBox="1"/>
          <p:nvPr/>
        </p:nvSpPr>
        <p:spPr>
          <a:xfrm>
            <a:off x="4709159" y="1828800"/>
            <a:ext cx="3017520" cy="731520"/>
          </a:xfrm>
          <a:prstGeom prst="rect">
            <a:avLst/>
          </a:prstGeom>
          <a:noFill/>
        </p:spPr>
        <p:txBody>
          <a:bodyPr wrap="square">
            <a:spAutoFit/>
          </a:bodyPr>
          <a:lstStyle/>
          <a:p>
            <a:pPr algn="l">
              <a:defRPr sz="900" b="0">
                <a:solidFill>
                  <a:srgbClr val="64748B"/>
                </a:solidFill>
                <a:latin typeface="Calibri"/>
              </a:defRPr>
            </a:pPr>
            <a:r>
              <a:t>Door Width (min 81cm), Threshold (flush/&lt;1.3cm), Handle Type (lever preferred)</a:t>
            </a:r>
          </a:p>
        </p:txBody>
      </p:sp>
      <p:sp>
        <p:nvSpPr>
          <p:cNvPr id="15" name="Rounded Rectangle 14"/>
          <p:cNvSpPr/>
          <p:nvPr/>
        </p:nvSpPr>
        <p:spPr>
          <a:xfrm>
            <a:off x="8229600" y="1463040"/>
            <a:ext cx="347472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0" y="1463040"/>
            <a:ext cx="64008" cy="11430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58200" y="1536192"/>
            <a:ext cx="1371600" cy="228600"/>
          </a:xfrm>
          <a:prstGeom prst="rect">
            <a:avLst/>
          </a:prstGeom>
          <a:noFill/>
        </p:spPr>
        <p:txBody>
          <a:bodyPr wrap="square">
            <a:spAutoFit/>
          </a:bodyPr>
          <a:lstStyle/>
          <a:p>
            <a:pPr algn="l">
              <a:defRPr sz="1200" b="1">
                <a:solidFill>
                  <a:srgbClr val="8B5CF6"/>
                </a:solidFill>
                <a:latin typeface="Calibri"/>
              </a:defRPr>
            </a:pPr>
            <a:r>
              <a:t>Elevator</a:t>
            </a:r>
          </a:p>
        </p:txBody>
      </p:sp>
      <p:sp>
        <p:nvSpPr>
          <p:cNvPr id="18" name="TextBox 17"/>
          <p:cNvSpPr txBox="1"/>
          <p:nvPr/>
        </p:nvSpPr>
        <p:spPr>
          <a:xfrm>
            <a:off x="10789920" y="1536192"/>
            <a:ext cx="731520" cy="228600"/>
          </a:xfrm>
          <a:prstGeom prst="rect">
            <a:avLst/>
          </a:prstGeom>
          <a:noFill/>
        </p:spPr>
        <p:txBody>
          <a:bodyPr wrap="square">
            <a:spAutoFit/>
          </a:bodyPr>
          <a:lstStyle/>
          <a:p>
            <a:pPr algn="l">
              <a:defRPr sz="800" b="0">
                <a:solidFill>
                  <a:srgbClr val="94A3B8"/>
                </a:solidFill>
                <a:latin typeface="Calibri"/>
              </a:defRPr>
            </a:pPr>
            <a:r>
              <a:t>3 criteria</a:t>
            </a:r>
          </a:p>
        </p:txBody>
      </p:sp>
      <p:sp>
        <p:nvSpPr>
          <p:cNvPr id="19" name="TextBox 18"/>
          <p:cNvSpPr txBox="1"/>
          <p:nvPr/>
        </p:nvSpPr>
        <p:spPr>
          <a:xfrm>
            <a:off x="8458200" y="1828800"/>
            <a:ext cx="3017520" cy="731520"/>
          </a:xfrm>
          <a:prstGeom prst="rect">
            <a:avLst/>
          </a:prstGeom>
          <a:noFill/>
        </p:spPr>
        <p:txBody>
          <a:bodyPr wrap="square">
            <a:spAutoFit/>
          </a:bodyPr>
          <a:lstStyle/>
          <a:p>
            <a:pPr algn="l">
              <a:defRPr sz="900" b="0">
                <a:solidFill>
                  <a:srgbClr val="64748B"/>
                </a:solidFill>
                <a:latin typeface="Calibri"/>
              </a:defRPr>
            </a:pPr>
            <a:r>
              <a:t>Button Height (wheelchair reach), Door Width (adequate), Braille Labels (on buttons)</a:t>
            </a:r>
          </a:p>
        </p:txBody>
      </p:sp>
      <p:sp>
        <p:nvSpPr>
          <p:cNvPr id="20" name="Rounded Rectangle 19"/>
          <p:cNvSpPr/>
          <p:nvPr/>
        </p:nvSpPr>
        <p:spPr>
          <a:xfrm>
            <a:off x="731520" y="2743200"/>
            <a:ext cx="347472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2743200"/>
            <a:ext cx="64008" cy="1143000"/>
          </a:xfrm>
          <a:prstGeom prst="rect">
            <a:avLst/>
          </a:prstGeom>
          <a:solidFill>
            <a:srgbClr val="FFB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2816352"/>
            <a:ext cx="1371600" cy="228600"/>
          </a:xfrm>
          <a:prstGeom prst="rect">
            <a:avLst/>
          </a:prstGeom>
          <a:noFill/>
        </p:spPr>
        <p:txBody>
          <a:bodyPr wrap="square">
            <a:spAutoFit/>
          </a:bodyPr>
          <a:lstStyle/>
          <a:p>
            <a:pPr algn="l">
              <a:defRPr sz="1200" b="1">
                <a:solidFill>
                  <a:srgbClr val="FFB020"/>
                </a:solidFill>
                <a:latin typeface="Calibri"/>
              </a:defRPr>
            </a:pPr>
            <a:r>
              <a:t>Parking</a:t>
            </a:r>
          </a:p>
        </p:txBody>
      </p:sp>
      <p:sp>
        <p:nvSpPr>
          <p:cNvPr id="23" name="TextBox 22"/>
          <p:cNvSpPr txBox="1"/>
          <p:nvPr/>
        </p:nvSpPr>
        <p:spPr>
          <a:xfrm>
            <a:off x="3291839" y="2816352"/>
            <a:ext cx="731520" cy="228600"/>
          </a:xfrm>
          <a:prstGeom prst="rect">
            <a:avLst/>
          </a:prstGeom>
          <a:noFill/>
        </p:spPr>
        <p:txBody>
          <a:bodyPr wrap="square">
            <a:spAutoFit/>
          </a:bodyPr>
          <a:lstStyle/>
          <a:p>
            <a:pPr algn="l">
              <a:defRPr sz="800" b="0">
                <a:solidFill>
                  <a:srgbClr val="94A3B8"/>
                </a:solidFill>
                <a:latin typeface="Calibri"/>
              </a:defRPr>
            </a:pPr>
            <a:r>
              <a:t>3 criteria</a:t>
            </a:r>
          </a:p>
        </p:txBody>
      </p:sp>
      <p:sp>
        <p:nvSpPr>
          <p:cNvPr id="24" name="TextBox 23"/>
          <p:cNvSpPr txBox="1"/>
          <p:nvPr/>
        </p:nvSpPr>
        <p:spPr>
          <a:xfrm>
            <a:off x="960120" y="3108960"/>
            <a:ext cx="3017520" cy="731520"/>
          </a:xfrm>
          <a:prstGeom prst="rect">
            <a:avLst/>
          </a:prstGeom>
          <a:noFill/>
        </p:spPr>
        <p:txBody>
          <a:bodyPr wrap="square">
            <a:spAutoFit/>
          </a:bodyPr>
          <a:lstStyle/>
          <a:p>
            <a:pPr algn="l">
              <a:defRPr sz="900" b="0">
                <a:solidFill>
                  <a:srgbClr val="64748B"/>
                </a:solidFill>
                <a:latin typeface="Calibri"/>
              </a:defRPr>
            </a:pPr>
            <a:r>
              <a:t>Accessible Sign (wheelchair symbol), Space Width (min 3.6m), Path to Entrance (clear route)</a:t>
            </a:r>
          </a:p>
        </p:txBody>
      </p:sp>
      <p:sp>
        <p:nvSpPr>
          <p:cNvPr id="25" name="Rounded Rectangle 24"/>
          <p:cNvSpPr/>
          <p:nvPr/>
        </p:nvSpPr>
        <p:spPr>
          <a:xfrm>
            <a:off x="4480559" y="2743200"/>
            <a:ext cx="347472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59" y="2743200"/>
            <a:ext cx="64008" cy="114300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09159" y="2816352"/>
            <a:ext cx="1371600" cy="228600"/>
          </a:xfrm>
          <a:prstGeom prst="rect">
            <a:avLst/>
          </a:prstGeom>
          <a:noFill/>
        </p:spPr>
        <p:txBody>
          <a:bodyPr wrap="square">
            <a:spAutoFit/>
          </a:bodyPr>
          <a:lstStyle/>
          <a:p>
            <a:pPr algn="l">
              <a:defRPr sz="1200" b="1">
                <a:solidFill>
                  <a:srgbClr val="EF4444"/>
                </a:solidFill>
                <a:latin typeface="Calibri"/>
              </a:defRPr>
            </a:pPr>
            <a:r>
              <a:t>Staircase</a:t>
            </a:r>
          </a:p>
        </p:txBody>
      </p:sp>
      <p:sp>
        <p:nvSpPr>
          <p:cNvPr id="28" name="TextBox 27"/>
          <p:cNvSpPr txBox="1"/>
          <p:nvPr/>
        </p:nvSpPr>
        <p:spPr>
          <a:xfrm>
            <a:off x="7040879" y="2816352"/>
            <a:ext cx="731520" cy="228600"/>
          </a:xfrm>
          <a:prstGeom prst="rect">
            <a:avLst/>
          </a:prstGeom>
          <a:noFill/>
        </p:spPr>
        <p:txBody>
          <a:bodyPr wrap="square">
            <a:spAutoFit/>
          </a:bodyPr>
          <a:lstStyle/>
          <a:p>
            <a:pPr algn="l">
              <a:defRPr sz="800" b="0">
                <a:solidFill>
                  <a:srgbClr val="94A3B8"/>
                </a:solidFill>
                <a:latin typeface="Calibri"/>
              </a:defRPr>
            </a:pPr>
            <a:r>
              <a:t>3 criteria</a:t>
            </a:r>
          </a:p>
        </p:txBody>
      </p:sp>
      <p:sp>
        <p:nvSpPr>
          <p:cNvPr id="29" name="TextBox 28"/>
          <p:cNvSpPr txBox="1"/>
          <p:nvPr/>
        </p:nvSpPr>
        <p:spPr>
          <a:xfrm>
            <a:off x="4709159" y="3108960"/>
            <a:ext cx="3017520" cy="731520"/>
          </a:xfrm>
          <a:prstGeom prst="rect">
            <a:avLst/>
          </a:prstGeom>
          <a:noFill/>
        </p:spPr>
        <p:txBody>
          <a:bodyPr wrap="square">
            <a:spAutoFit/>
          </a:bodyPr>
          <a:lstStyle/>
          <a:p>
            <a:pPr algn="l">
              <a:defRPr sz="900" b="0">
                <a:solidFill>
                  <a:srgbClr val="64748B"/>
                </a:solidFill>
                <a:latin typeface="Calibri"/>
              </a:defRPr>
            </a:pPr>
            <a:r>
              <a:t>Alternative Route (ramp/elevator nearby), Handrails (both sides), Tactile Warning (strips at top)</a:t>
            </a:r>
          </a:p>
        </p:txBody>
      </p:sp>
      <p:sp>
        <p:nvSpPr>
          <p:cNvPr id="30" name="Rounded Rectangle 29"/>
          <p:cNvSpPr/>
          <p:nvPr/>
        </p:nvSpPr>
        <p:spPr>
          <a:xfrm>
            <a:off x="8229600" y="2743200"/>
            <a:ext cx="347472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29600" y="2743200"/>
            <a:ext cx="64008" cy="1143000"/>
          </a:xfrm>
          <a:prstGeom prst="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58200" y="2816352"/>
            <a:ext cx="1371600" cy="228600"/>
          </a:xfrm>
          <a:prstGeom prst="rect">
            <a:avLst/>
          </a:prstGeom>
          <a:noFill/>
        </p:spPr>
        <p:txBody>
          <a:bodyPr wrap="square">
            <a:spAutoFit/>
          </a:bodyPr>
          <a:lstStyle/>
          <a:p>
            <a:pPr algn="l">
              <a:defRPr sz="1200" b="1">
                <a:solidFill>
                  <a:srgbClr val="00D261"/>
                </a:solidFill>
                <a:latin typeface="Calibri"/>
              </a:defRPr>
            </a:pPr>
            <a:r>
              <a:t>Road / Pathway</a:t>
            </a:r>
          </a:p>
        </p:txBody>
      </p:sp>
      <p:sp>
        <p:nvSpPr>
          <p:cNvPr id="33" name="TextBox 32"/>
          <p:cNvSpPr txBox="1"/>
          <p:nvPr/>
        </p:nvSpPr>
        <p:spPr>
          <a:xfrm>
            <a:off x="10789920" y="2816352"/>
            <a:ext cx="731520" cy="228600"/>
          </a:xfrm>
          <a:prstGeom prst="rect">
            <a:avLst/>
          </a:prstGeom>
          <a:noFill/>
        </p:spPr>
        <p:txBody>
          <a:bodyPr wrap="square">
            <a:spAutoFit/>
          </a:bodyPr>
          <a:lstStyle/>
          <a:p>
            <a:pPr algn="l">
              <a:defRPr sz="800" b="0">
                <a:solidFill>
                  <a:srgbClr val="94A3B8"/>
                </a:solidFill>
                <a:latin typeface="Calibri"/>
              </a:defRPr>
            </a:pPr>
            <a:r>
              <a:t>5 criteria</a:t>
            </a:r>
          </a:p>
        </p:txBody>
      </p:sp>
      <p:sp>
        <p:nvSpPr>
          <p:cNvPr id="34" name="TextBox 33"/>
          <p:cNvSpPr txBox="1"/>
          <p:nvPr/>
        </p:nvSpPr>
        <p:spPr>
          <a:xfrm>
            <a:off x="8458200" y="3108960"/>
            <a:ext cx="3017520" cy="731520"/>
          </a:xfrm>
          <a:prstGeom prst="rect">
            <a:avLst/>
          </a:prstGeom>
          <a:noFill/>
        </p:spPr>
        <p:txBody>
          <a:bodyPr wrap="square">
            <a:spAutoFit/>
          </a:bodyPr>
          <a:lstStyle/>
          <a:p>
            <a:pPr algn="l">
              <a:defRPr sz="900" b="0">
                <a:solidFill>
                  <a:srgbClr val="64748B"/>
                </a:solidFill>
                <a:latin typeface="Calibri"/>
              </a:defRPr>
            </a:pPr>
            <a:r>
              <a:t>Surface Condition (even/paved), Curb Cuts (at crossings), Width (&gt;1.2m), Obstacles (clear path), Tactile Paving</a:t>
            </a:r>
          </a:p>
        </p:txBody>
      </p:sp>
      <p:sp>
        <p:nvSpPr>
          <p:cNvPr id="35" name="Rounded Rectangle 34"/>
          <p:cNvSpPr/>
          <p:nvPr/>
        </p:nvSpPr>
        <p:spPr>
          <a:xfrm>
            <a:off x="731520" y="4023360"/>
            <a:ext cx="347472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1520" y="4023360"/>
            <a:ext cx="64008" cy="1143000"/>
          </a:xfrm>
          <a:prstGeom prst="rect">
            <a:avLst/>
          </a:prstGeom>
          <a:solidFill>
            <a:srgbClr val="4F7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0120" y="4096512"/>
            <a:ext cx="1371600" cy="228600"/>
          </a:xfrm>
          <a:prstGeom prst="rect">
            <a:avLst/>
          </a:prstGeom>
          <a:noFill/>
        </p:spPr>
        <p:txBody>
          <a:bodyPr wrap="square">
            <a:spAutoFit/>
          </a:bodyPr>
          <a:lstStyle/>
          <a:p>
            <a:pPr algn="l">
              <a:defRPr sz="1200" b="1">
                <a:solidFill>
                  <a:srgbClr val="4F7DF7"/>
                </a:solidFill>
                <a:latin typeface="Calibri"/>
              </a:defRPr>
            </a:pPr>
            <a:r>
              <a:t>Home / Residential</a:t>
            </a:r>
          </a:p>
        </p:txBody>
      </p:sp>
      <p:sp>
        <p:nvSpPr>
          <p:cNvPr id="38" name="TextBox 37"/>
          <p:cNvSpPr txBox="1"/>
          <p:nvPr/>
        </p:nvSpPr>
        <p:spPr>
          <a:xfrm>
            <a:off x="3291839" y="4096512"/>
            <a:ext cx="731520" cy="228600"/>
          </a:xfrm>
          <a:prstGeom prst="rect">
            <a:avLst/>
          </a:prstGeom>
          <a:noFill/>
        </p:spPr>
        <p:txBody>
          <a:bodyPr wrap="square">
            <a:spAutoFit/>
          </a:bodyPr>
          <a:lstStyle/>
          <a:p>
            <a:pPr algn="l">
              <a:defRPr sz="800" b="0">
                <a:solidFill>
                  <a:srgbClr val="94A3B8"/>
                </a:solidFill>
                <a:latin typeface="Calibri"/>
              </a:defRPr>
            </a:pPr>
            <a:r>
              <a:t>4 criteria</a:t>
            </a:r>
          </a:p>
        </p:txBody>
      </p:sp>
      <p:sp>
        <p:nvSpPr>
          <p:cNvPr id="39" name="TextBox 38"/>
          <p:cNvSpPr txBox="1"/>
          <p:nvPr/>
        </p:nvSpPr>
        <p:spPr>
          <a:xfrm>
            <a:off x="960120" y="4389120"/>
            <a:ext cx="3017520" cy="731520"/>
          </a:xfrm>
          <a:prstGeom prst="rect">
            <a:avLst/>
          </a:prstGeom>
          <a:noFill/>
        </p:spPr>
        <p:txBody>
          <a:bodyPr wrap="square">
            <a:spAutoFit/>
          </a:bodyPr>
          <a:lstStyle/>
          <a:p>
            <a:pPr algn="l">
              <a:defRPr sz="900" b="0">
                <a:solidFill>
                  <a:srgbClr val="64748B"/>
                </a:solidFill>
                <a:latin typeface="Calibri"/>
              </a:defRPr>
            </a:pPr>
            <a:r>
              <a:t>Entrance Access (step-free), Door Width (&gt;81cm), Floor Level (ground floor), Pathway to Door (clear/even)</a:t>
            </a:r>
          </a:p>
        </p:txBody>
      </p:sp>
      <p:sp>
        <p:nvSpPr>
          <p:cNvPr id="40" name="Rounded Rectangle 39"/>
          <p:cNvSpPr/>
          <p:nvPr/>
        </p:nvSpPr>
        <p:spPr>
          <a:xfrm>
            <a:off x="4480559" y="4023360"/>
            <a:ext cx="347472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480559" y="4023360"/>
            <a:ext cx="64008" cy="11430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709159" y="4096512"/>
            <a:ext cx="1371600" cy="228600"/>
          </a:xfrm>
          <a:prstGeom prst="rect">
            <a:avLst/>
          </a:prstGeom>
          <a:noFill/>
        </p:spPr>
        <p:txBody>
          <a:bodyPr wrap="square">
            <a:spAutoFit/>
          </a:bodyPr>
          <a:lstStyle/>
          <a:p>
            <a:pPr algn="l">
              <a:defRPr sz="1200" b="1">
                <a:solidFill>
                  <a:srgbClr val="8B5CF6"/>
                </a:solidFill>
                <a:latin typeface="Calibri"/>
              </a:defRPr>
            </a:pPr>
            <a:r>
              <a:t>Hospital / Medical</a:t>
            </a:r>
          </a:p>
        </p:txBody>
      </p:sp>
      <p:sp>
        <p:nvSpPr>
          <p:cNvPr id="43" name="TextBox 42"/>
          <p:cNvSpPr txBox="1"/>
          <p:nvPr/>
        </p:nvSpPr>
        <p:spPr>
          <a:xfrm>
            <a:off x="7040879" y="4096512"/>
            <a:ext cx="731520" cy="228600"/>
          </a:xfrm>
          <a:prstGeom prst="rect">
            <a:avLst/>
          </a:prstGeom>
          <a:noFill/>
        </p:spPr>
        <p:txBody>
          <a:bodyPr wrap="square">
            <a:spAutoFit/>
          </a:bodyPr>
          <a:lstStyle/>
          <a:p>
            <a:pPr algn="l">
              <a:defRPr sz="800" b="0">
                <a:solidFill>
                  <a:srgbClr val="94A3B8"/>
                </a:solidFill>
                <a:latin typeface="Calibri"/>
              </a:defRPr>
            </a:pPr>
            <a:r>
              <a:t>4 criteria</a:t>
            </a:r>
          </a:p>
        </p:txBody>
      </p:sp>
      <p:sp>
        <p:nvSpPr>
          <p:cNvPr id="44" name="TextBox 43"/>
          <p:cNvSpPr txBox="1"/>
          <p:nvPr/>
        </p:nvSpPr>
        <p:spPr>
          <a:xfrm>
            <a:off x="4709159" y="4389120"/>
            <a:ext cx="3017520" cy="731520"/>
          </a:xfrm>
          <a:prstGeom prst="rect">
            <a:avLst/>
          </a:prstGeom>
          <a:noFill/>
        </p:spPr>
        <p:txBody>
          <a:bodyPr wrap="square">
            <a:spAutoFit/>
          </a:bodyPr>
          <a:lstStyle/>
          <a:p>
            <a:pPr algn="l">
              <a:defRPr sz="900" b="0">
                <a:solidFill>
                  <a:srgbClr val="64748B"/>
                </a:solidFill>
                <a:latin typeface="Calibri"/>
              </a:defRPr>
            </a:pPr>
            <a:r>
              <a:t>Main Entrance (automatic doors), Corridor Width (&gt;1.8m for two wheelchairs), Signage (visible), Emergency Access</a:t>
            </a:r>
          </a:p>
        </p:txBody>
      </p:sp>
      <p:sp>
        <p:nvSpPr>
          <p:cNvPr id="45" name="Rounded Rectangle 44"/>
          <p:cNvSpPr/>
          <p:nvPr/>
        </p:nvSpPr>
        <p:spPr>
          <a:xfrm>
            <a:off x="8229600" y="4023360"/>
            <a:ext cx="347472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229600" y="4023360"/>
            <a:ext cx="64008" cy="1143000"/>
          </a:xfrm>
          <a:prstGeom prst="rect">
            <a:avLst/>
          </a:prstGeom>
          <a:solidFill>
            <a:srgbClr val="FFB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58200" y="4096512"/>
            <a:ext cx="1371600" cy="228600"/>
          </a:xfrm>
          <a:prstGeom prst="rect">
            <a:avLst/>
          </a:prstGeom>
          <a:noFill/>
        </p:spPr>
        <p:txBody>
          <a:bodyPr wrap="square">
            <a:spAutoFit/>
          </a:bodyPr>
          <a:lstStyle/>
          <a:p>
            <a:pPr algn="l">
              <a:defRPr sz="1200" b="1">
                <a:solidFill>
                  <a:srgbClr val="FFB020"/>
                </a:solidFill>
                <a:latin typeface="Calibri"/>
              </a:defRPr>
            </a:pPr>
            <a:r>
              <a:t>Mall / Commercial</a:t>
            </a:r>
          </a:p>
        </p:txBody>
      </p:sp>
      <p:sp>
        <p:nvSpPr>
          <p:cNvPr id="48" name="TextBox 47"/>
          <p:cNvSpPr txBox="1"/>
          <p:nvPr/>
        </p:nvSpPr>
        <p:spPr>
          <a:xfrm>
            <a:off x="10789920" y="4096512"/>
            <a:ext cx="731520" cy="228600"/>
          </a:xfrm>
          <a:prstGeom prst="rect">
            <a:avLst/>
          </a:prstGeom>
          <a:noFill/>
        </p:spPr>
        <p:txBody>
          <a:bodyPr wrap="square">
            <a:spAutoFit/>
          </a:bodyPr>
          <a:lstStyle/>
          <a:p>
            <a:pPr algn="l">
              <a:defRPr sz="800" b="0">
                <a:solidFill>
                  <a:srgbClr val="94A3B8"/>
                </a:solidFill>
                <a:latin typeface="Calibri"/>
              </a:defRPr>
            </a:pPr>
            <a:r>
              <a:t>4 criteria</a:t>
            </a:r>
          </a:p>
        </p:txBody>
      </p:sp>
      <p:sp>
        <p:nvSpPr>
          <p:cNvPr id="49" name="TextBox 48"/>
          <p:cNvSpPr txBox="1"/>
          <p:nvPr/>
        </p:nvSpPr>
        <p:spPr>
          <a:xfrm>
            <a:off x="8458200" y="4389120"/>
            <a:ext cx="3017520" cy="731520"/>
          </a:xfrm>
          <a:prstGeom prst="rect">
            <a:avLst/>
          </a:prstGeom>
          <a:noFill/>
        </p:spPr>
        <p:txBody>
          <a:bodyPr wrap="square">
            <a:spAutoFit/>
          </a:bodyPr>
          <a:lstStyle/>
          <a:p>
            <a:pPr algn="l">
              <a:defRPr sz="900" b="0">
                <a:solidFill>
                  <a:srgbClr val="64748B"/>
                </a:solidFill>
                <a:latin typeface="Calibri"/>
              </a:defRPr>
            </a:pPr>
            <a:r>
              <a:t>Entrance (level access), Floor Navigation (&gt;90cm aisles), Elevator (all public floors), Seating Areas (wheelchair spaces)</a:t>
            </a:r>
          </a:p>
        </p:txBody>
      </p:sp>
      <p:sp>
        <p:nvSpPr>
          <p:cNvPr id="50" name="Rounded Rectangle 49"/>
          <p:cNvSpPr/>
          <p:nvPr/>
        </p:nvSpPr>
        <p:spPr>
          <a:xfrm>
            <a:off x="731520" y="5303519"/>
            <a:ext cx="347472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31520" y="5303519"/>
            <a:ext cx="64008" cy="114300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60120" y="5376671"/>
            <a:ext cx="1371600" cy="228600"/>
          </a:xfrm>
          <a:prstGeom prst="rect">
            <a:avLst/>
          </a:prstGeom>
          <a:noFill/>
        </p:spPr>
        <p:txBody>
          <a:bodyPr wrap="square">
            <a:spAutoFit/>
          </a:bodyPr>
          <a:lstStyle/>
          <a:p>
            <a:pPr algn="l">
              <a:defRPr sz="1200" b="1">
                <a:solidFill>
                  <a:srgbClr val="009688"/>
                </a:solidFill>
                <a:latin typeface="Calibri"/>
              </a:defRPr>
            </a:pPr>
            <a:r>
              <a:t>Transit / Bus Stop</a:t>
            </a:r>
          </a:p>
        </p:txBody>
      </p:sp>
      <p:sp>
        <p:nvSpPr>
          <p:cNvPr id="53" name="TextBox 52"/>
          <p:cNvSpPr txBox="1"/>
          <p:nvPr/>
        </p:nvSpPr>
        <p:spPr>
          <a:xfrm>
            <a:off x="3291839" y="5376671"/>
            <a:ext cx="731520" cy="228600"/>
          </a:xfrm>
          <a:prstGeom prst="rect">
            <a:avLst/>
          </a:prstGeom>
          <a:noFill/>
        </p:spPr>
        <p:txBody>
          <a:bodyPr wrap="square">
            <a:spAutoFit/>
          </a:bodyPr>
          <a:lstStyle/>
          <a:p>
            <a:pPr algn="l">
              <a:defRPr sz="800" b="0">
                <a:solidFill>
                  <a:srgbClr val="94A3B8"/>
                </a:solidFill>
                <a:latin typeface="Calibri"/>
              </a:defRPr>
            </a:pPr>
            <a:r>
              <a:t>4 criteria</a:t>
            </a:r>
          </a:p>
        </p:txBody>
      </p:sp>
      <p:sp>
        <p:nvSpPr>
          <p:cNvPr id="54" name="TextBox 53"/>
          <p:cNvSpPr txBox="1"/>
          <p:nvPr/>
        </p:nvSpPr>
        <p:spPr>
          <a:xfrm>
            <a:off x="960120" y="5669279"/>
            <a:ext cx="3017520" cy="731520"/>
          </a:xfrm>
          <a:prstGeom prst="rect">
            <a:avLst/>
          </a:prstGeom>
          <a:noFill/>
        </p:spPr>
        <p:txBody>
          <a:bodyPr wrap="square">
            <a:spAutoFit/>
          </a:bodyPr>
          <a:lstStyle/>
          <a:p>
            <a:pPr algn="l">
              <a:defRPr sz="900" b="0">
                <a:solidFill>
                  <a:srgbClr val="64748B"/>
                </a:solidFill>
                <a:latin typeface="Calibri"/>
              </a:defRPr>
            </a:pPr>
            <a:r>
              <a:t>Platform Level (matches vehicle), Waiting Area (wheelchair space), Approach Path (accessible), Info Display (1.2m height)</a:t>
            </a:r>
          </a:p>
        </p:txBody>
      </p:sp>
      <p:sp>
        <p:nvSpPr>
          <p:cNvPr id="55" name="Rounded Rectangle 54"/>
          <p:cNvSpPr/>
          <p:nvPr/>
        </p:nvSpPr>
        <p:spPr>
          <a:xfrm>
            <a:off x="4480559" y="5303519"/>
            <a:ext cx="347472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480559" y="5303519"/>
            <a:ext cx="64008" cy="1143000"/>
          </a:xfrm>
          <a:prstGeom prst="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709159" y="5376671"/>
            <a:ext cx="1371600" cy="228600"/>
          </a:xfrm>
          <a:prstGeom prst="rect">
            <a:avLst/>
          </a:prstGeom>
          <a:noFill/>
        </p:spPr>
        <p:txBody>
          <a:bodyPr wrap="square">
            <a:spAutoFit/>
          </a:bodyPr>
          <a:lstStyle/>
          <a:p>
            <a:pPr algn="l">
              <a:defRPr sz="1200" b="1">
                <a:solidFill>
                  <a:srgbClr val="00D261"/>
                </a:solidFill>
                <a:latin typeface="Calibri"/>
              </a:defRPr>
            </a:pPr>
            <a:r>
              <a:t>Garden / Outdoor</a:t>
            </a:r>
          </a:p>
        </p:txBody>
      </p:sp>
      <p:sp>
        <p:nvSpPr>
          <p:cNvPr id="58" name="TextBox 57"/>
          <p:cNvSpPr txBox="1"/>
          <p:nvPr/>
        </p:nvSpPr>
        <p:spPr>
          <a:xfrm>
            <a:off x="7040879" y="5376671"/>
            <a:ext cx="731520" cy="228600"/>
          </a:xfrm>
          <a:prstGeom prst="rect">
            <a:avLst/>
          </a:prstGeom>
          <a:noFill/>
        </p:spPr>
        <p:txBody>
          <a:bodyPr wrap="square">
            <a:spAutoFit/>
          </a:bodyPr>
          <a:lstStyle/>
          <a:p>
            <a:pPr algn="l">
              <a:defRPr sz="800" b="0">
                <a:solidFill>
                  <a:srgbClr val="94A3B8"/>
                </a:solidFill>
                <a:latin typeface="Calibri"/>
              </a:defRPr>
            </a:pPr>
            <a:r>
              <a:t>4 criteria</a:t>
            </a:r>
          </a:p>
        </p:txBody>
      </p:sp>
      <p:sp>
        <p:nvSpPr>
          <p:cNvPr id="59" name="TextBox 58"/>
          <p:cNvSpPr txBox="1"/>
          <p:nvPr/>
        </p:nvSpPr>
        <p:spPr>
          <a:xfrm>
            <a:off x="4709159" y="5669279"/>
            <a:ext cx="3017520" cy="731520"/>
          </a:xfrm>
          <a:prstGeom prst="rect">
            <a:avLst/>
          </a:prstGeom>
          <a:noFill/>
        </p:spPr>
        <p:txBody>
          <a:bodyPr wrap="square">
            <a:spAutoFit/>
          </a:bodyPr>
          <a:lstStyle/>
          <a:p>
            <a:pPr algn="l">
              <a:defRPr sz="900" b="0">
                <a:solidFill>
                  <a:srgbClr val="64748B"/>
                </a:solidFill>
                <a:latin typeface="Calibri"/>
              </a:defRPr>
            </a:pPr>
            <a:r>
              <a:t>Path Surface (paved/compacted), Path Width (&gt;1.2m), Slope (max 1:20), Rest Areas (benches every 50m)</a:t>
            </a:r>
          </a:p>
        </p:txBody>
      </p:sp>
      <p:sp>
        <p:nvSpPr>
          <p:cNvPr id="60" name="Rounded Rectangle 59"/>
          <p:cNvSpPr/>
          <p:nvPr/>
        </p:nvSpPr>
        <p:spPr>
          <a:xfrm>
            <a:off x="8229600" y="5303519"/>
            <a:ext cx="347472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229600" y="5303519"/>
            <a:ext cx="64008" cy="1143000"/>
          </a:xfrm>
          <a:prstGeom prst="rect">
            <a:avLst/>
          </a:prstGeom>
          <a:solidFill>
            <a:srgbClr val="4F7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458200" y="5376671"/>
            <a:ext cx="1371600" cy="228600"/>
          </a:xfrm>
          <a:prstGeom prst="rect">
            <a:avLst/>
          </a:prstGeom>
          <a:noFill/>
        </p:spPr>
        <p:txBody>
          <a:bodyPr wrap="square">
            <a:spAutoFit/>
          </a:bodyPr>
          <a:lstStyle/>
          <a:p>
            <a:pPr algn="l">
              <a:defRPr sz="1200" b="1">
                <a:solidFill>
                  <a:srgbClr val="4F7DF7"/>
                </a:solidFill>
                <a:latin typeface="Calibri"/>
              </a:defRPr>
            </a:pPr>
            <a:r>
              <a:t>Office / Building</a:t>
            </a:r>
          </a:p>
        </p:txBody>
      </p:sp>
      <p:sp>
        <p:nvSpPr>
          <p:cNvPr id="63" name="TextBox 62"/>
          <p:cNvSpPr txBox="1"/>
          <p:nvPr/>
        </p:nvSpPr>
        <p:spPr>
          <a:xfrm>
            <a:off x="10789920" y="5376671"/>
            <a:ext cx="731520" cy="228600"/>
          </a:xfrm>
          <a:prstGeom prst="rect">
            <a:avLst/>
          </a:prstGeom>
          <a:noFill/>
        </p:spPr>
        <p:txBody>
          <a:bodyPr wrap="square">
            <a:spAutoFit/>
          </a:bodyPr>
          <a:lstStyle/>
          <a:p>
            <a:pPr algn="l">
              <a:defRPr sz="800" b="0">
                <a:solidFill>
                  <a:srgbClr val="94A3B8"/>
                </a:solidFill>
                <a:latin typeface="Calibri"/>
              </a:defRPr>
            </a:pPr>
            <a:r>
              <a:t>4 criteria</a:t>
            </a:r>
          </a:p>
        </p:txBody>
      </p:sp>
      <p:sp>
        <p:nvSpPr>
          <p:cNvPr id="64" name="TextBox 63"/>
          <p:cNvSpPr txBox="1"/>
          <p:nvPr/>
        </p:nvSpPr>
        <p:spPr>
          <a:xfrm>
            <a:off x="8458200" y="5669279"/>
            <a:ext cx="3017520" cy="731520"/>
          </a:xfrm>
          <a:prstGeom prst="rect">
            <a:avLst/>
          </a:prstGeom>
          <a:noFill/>
        </p:spPr>
        <p:txBody>
          <a:bodyPr wrap="square">
            <a:spAutoFit/>
          </a:bodyPr>
          <a:lstStyle/>
          <a:p>
            <a:pPr algn="l">
              <a:defRPr sz="900" b="0">
                <a:solidFill>
                  <a:srgbClr val="64748B"/>
                </a:solidFill>
                <a:latin typeface="Calibri"/>
              </a:defRPr>
            </a:pPr>
            <a:r>
              <a:t>Entry Door (automatic/easy-open), Corridor Width (&gt;1.5m), Floor Surface (non-slip), Reception Height (76cm lowered section)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F2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640080"/>
          </a:xfrm>
          <a:prstGeom prst="rect">
            <a:avLst/>
          </a:prstGeom>
          <a:noFill/>
        </p:spPr>
        <p:txBody>
          <a:bodyPr wrap="square">
            <a:spAutoFit/>
          </a:bodyPr>
          <a:lstStyle/>
          <a:p>
            <a:pPr algn="l">
              <a:defRPr sz="3600" b="1">
                <a:solidFill>
                  <a:srgbClr val="FFFFFF"/>
                </a:solidFill>
                <a:latin typeface="Calibri"/>
              </a:defRPr>
            </a:pPr>
            <a:r>
              <a:t>Flutter Concepts We Used</a:t>
            </a:r>
          </a:p>
        </p:txBody>
      </p:sp>
      <p:sp>
        <p:nvSpPr>
          <p:cNvPr id="4" name="TextBox 3"/>
          <p:cNvSpPr txBox="1"/>
          <p:nvPr/>
        </p:nvSpPr>
        <p:spPr>
          <a:xfrm>
            <a:off x="731520" y="914400"/>
            <a:ext cx="9144000" cy="457200"/>
          </a:xfrm>
          <a:prstGeom prst="rect">
            <a:avLst/>
          </a:prstGeom>
          <a:noFill/>
        </p:spPr>
        <p:txBody>
          <a:bodyPr wrap="square">
            <a:spAutoFit/>
          </a:bodyPr>
          <a:lstStyle/>
          <a:p>
            <a:pPr algn="l">
              <a:defRPr sz="1500" b="0">
                <a:solidFill>
                  <a:srgbClr val="94A3B8"/>
                </a:solidFill>
                <a:latin typeface="Calibri"/>
              </a:defRPr>
            </a:pPr>
            <a:r>
              <a:t>Every major Flutter concept in the app — explained in simple words for viva</a:t>
            </a:r>
          </a:p>
        </p:txBody>
      </p:sp>
      <p:sp>
        <p:nvSpPr>
          <p:cNvPr id="5" name="Rounded Rectangle 4"/>
          <p:cNvSpPr/>
          <p:nvPr/>
        </p:nvSpPr>
        <p:spPr>
          <a:xfrm>
            <a:off x="731520" y="1463040"/>
            <a:ext cx="5394960" cy="91440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63040"/>
            <a:ext cx="64008" cy="914400"/>
          </a:xfrm>
          <a:prstGeom prst="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08760"/>
            <a:ext cx="4937760" cy="228600"/>
          </a:xfrm>
          <a:prstGeom prst="rect">
            <a:avLst/>
          </a:prstGeom>
          <a:noFill/>
        </p:spPr>
        <p:txBody>
          <a:bodyPr wrap="square">
            <a:spAutoFit/>
          </a:bodyPr>
          <a:lstStyle/>
          <a:p>
            <a:pPr algn="l">
              <a:defRPr sz="1100" b="1">
                <a:solidFill>
                  <a:srgbClr val="00D261"/>
                </a:solidFill>
                <a:latin typeface="Calibri"/>
              </a:defRPr>
            </a:pPr>
            <a:r>
              <a:t>StatefulWidget vs StatelessWidget</a:t>
            </a:r>
          </a:p>
        </p:txBody>
      </p:sp>
      <p:sp>
        <p:nvSpPr>
          <p:cNvPr id="8" name="TextBox 7"/>
          <p:cNvSpPr txBox="1"/>
          <p:nvPr/>
        </p:nvSpPr>
        <p:spPr>
          <a:xfrm>
            <a:off x="960120" y="1755648"/>
            <a:ext cx="4937760" cy="594360"/>
          </a:xfrm>
          <a:prstGeom prst="rect">
            <a:avLst/>
          </a:prstGeom>
          <a:noFill/>
        </p:spPr>
        <p:txBody>
          <a:bodyPr wrap="square">
            <a:spAutoFit/>
          </a:bodyPr>
          <a:lstStyle/>
          <a:p>
            <a:pPr algn="l">
              <a:defRPr sz="800" b="0">
                <a:solidFill>
                  <a:srgbClr val="94A3B8"/>
                </a:solidFill>
                <a:latin typeface="Calibri"/>
              </a:defRPr>
            </a:pPr>
            <a:r>
              <a:t>StatelessWidget is for screens that don't change (like Feed — it always shows the same data). StatefulWidget is for screens where something changes (like Scan — the isAnalyzing variable toggles between showing the scan view and the loading view). When data changes, StatefulWidget rebuilds the UI.</a:t>
            </a:r>
          </a:p>
        </p:txBody>
      </p:sp>
      <p:sp>
        <p:nvSpPr>
          <p:cNvPr id="9" name="Rounded Rectangle 8"/>
          <p:cNvSpPr/>
          <p:nvPr/>
        </p:nvSpPr>
        <p:spPr>
          <a:xfrm>
            <a:off x="6400800" y="1463040"/>
            <a:ext cx="5394960" cy="91440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63040"/>
            <a:ext cx="64008" cy="914400"/>
          </a:xfrm>
          <a:prstGeom prst="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9400" y="1508760"/>
            <a:ext cx="4937760" cy="228600"/>
          </a:xfrm>
          <a:prstGeom prst="rect">
            <a:avLst/>
          </a:prstGeom>
          <a:noFill/>
        </p:spPr>
        <p:txBody>
          <a:bodyPr wrap="square">
            <a:spAutoFit/>
          </a:bodyPr>
          <a:lstStyle/>
          <a:p>
            <a:pPr algn="l">
              <a:defRPr sz="1100" b="1">
                <a:solidFill>
                  <a:srgbClr val="00D261"/>
                </a:solidFill>
                <a:latin typeface="Calibri"/>
              </a:defRPr>
            </a:pPr>
            <a:r>
              <a:t>setState()</a:t>
            </a:r>
          </a:p>
        </p:txBody>
      </p:sp>
      <p:sp>
        <p:nvSpPr>
          <p:cNvPr id="12" name="TextBox 11"/>
          <p:cNvSpPr txBox="1"/>
          <p:nvPr/>
        </p:nvSpPr>
        <p:spPr>
          <a:xfrm>
            <a:off x="6629400" y="1755648"/>
            <a:ext cx="4937760" cy="594360"/>
          </a:xfrm>
          <a:prstGeom prst="rect">
            <a:avLst/>
          </a:prstGeom>
          <a:noFill/>
        </p:spPr>
        <p:txBody>
          <a:bodyPr wrap="square">
            <a:spAutoFit/>
          </a:bodyPr>
          <a:lstStyle/>
          <a:p>
            <a:pPr algn="l">
              <a:defRPr sz="800" b="0">
                <a:solidFill>
                  <a:srgbClr val="94A3B8"/>
                </a:solidFill>
                <a:latin typeface="Calibri"/>
              </a:defRPr>
            </a:pPr>
            <a:r>
              <a:t>This is the function that tells Flutter 'hey, something changed, please rebuild the screen'. Example: when user taps a filter on the Map screen, we call setState() to update _selectedFilter, and Flutter redraws only the pins that match the new filter.</a:t>
            </a:r>
          </a:p>
        </p:txBody>
      </p:sp>
      <p:sp>
        <p:nvSpPr>
          <p:cNvPr id="13" name="Rounded Rectangle 12"/>
          <p:cNvSpPr/>
          <p:nvPr/>
        </p:nvSpPr>
        <p:spPr>
          <a:xfrm>
            <a:off x="731520" y="2514600"/>
            <a:ext cx="5394960" cy="91440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2514600"/>
            <a:ext cx="64008" cy="914400"/>
          </a:xfrm>
          <a:prstGeom prst="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2560320"/>
            <a:ext cx="4937760" cy="228600"/>
          </a:xfrm>
          <a:prstGeom prst="rect">
            <a:avLst/>
          </a:prstGeom>
          <a:noFill/>
        </p:spPr>
        <p:txBody>
          <a:bodyPr wrap="square">
            <a:spAutoFit/>
          </a:bodyPr>
          <a:lstStyle/>
          <a:p>
            <a:pPr algn="l">
              <a:defRPr sz="1100" b="1">
                <a:solidFill>
                  <a:srgbClr val="00D261"/>
                </a:solidFill>
                <a:latin typeface="Calibri"/>
              </a:defRPr>
            </a:pPr>
            <a:r>
              <a:t>Navigator.push() and Navigator.pop()</a:t>
            </a:r>
          </a:p>
        </p:txBody>
      </p:sp>
      <p:sp>
        <p:nvSpPr>
          <p:cNvPr id="16" name="TextBox 15"/>
          <p:cNvSpPr txBox="1"/>
          <p:nvPr/>
        </p:nvSpPr>
        <p:spPr>
          <a:xfrm>
            <a:off x="960120" y="2807208"/>
            <a:ext cx="4937760" cy="594360"/>
          </a:xfrm>
          <a:prstGeom prst="rect">
            <a:avLst/>
          </a:prstGeom>
          <a:noFill/>
        </p:spPr>
        <p:txBody>
          <a:bodyPr wrap="square">
            <a:spAutoFit/>
          </a:bodyPr>
          <a:lstStyle/>
          <a:p>
            <a:pPr algn="l">
              <a:defRPr sz="800" b="0">
                <a:solidFill>
                  <a:srgbClr val="94A3B8"/>
                </a:solidFill>
                <a:latin typeface="Calibri"/>
              </a:defRPr>
            </a:pPr>
            <a:r>
              <a:t>push() adds a new screen on top of the current one (like going from Scan to Results). pop() removes the top screen and goes back. pushReplacement() replaces the current screen (used in splash to go to home without a back button).</a:t>
            </a:r>
          </a:p>
        </p:txBody>
      </p:sp>
      <p:sp>
        <p:nvSpPr>
          <p:cNvPr id="17" name="Rounded Rectangle 16"/>
          <p:cNvSpPr/>
          <p:nvPr/>
        </p:nvSpPr>
        <p:spPr>
          <a:xfrm>
            <a:off x="6400800" y="2514600"/>
            <a:ext cx="5394960" cy="91440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0" y="2514600"/>
            <a:ext cx="64008" cy="914400"/>
          </a:xfrm>
          <a:prstGeom prst="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29400" y="2560320"/>
            <a:ext cx="4937760" cy="228600"/>
          </a:xfrm>
          <a:prstGeom prst="rect">
            <a:avLst/>
          </a:prstGeom>
          <a:noFill/>
        </p:spPr>
        <p:txBody>
          <a:bodyPr wrap="square">
            <a:spAutoFit/>
          </a:bodyPr>
          <a:lstStyle/>
          <a:p>
            <a:pPr algn="l">
              <a:defRPr sz="1100" b="1">
                <a:solidFill>
                  <a:srgbClr val="00D261"/>
                </a:solidFill>
                <a:latin typeface="Calibri"/>
              </a:defRPr>
            </a:pPr>
            <a:r>
              <a:t>async / await / Future</a:t>
            </a:r>
          </a:p>
        </p:txBody>
      </p:sp>
      <p:sp>
        <p:nvSpPr>
          <p:cNvPr id="20" name="TextBox 19"/>
          <p:cNvSpPr txBox="1"/>
          <p:nvPr/>
        </p:nvSpPr>
        <p:spPr>
          <a:xfrm>
            <a:off x="6629400" y="2807208"/>
            <a:ext cx="4937760" cy="594360"/>
          </a:xfrm>
          <a:prstGeom prst="rect">
            <a:avLst/>
          </a:prstGeom>
          <a:noFill/>
        </p:spPr>
        <p:txBody>
          <a:bodyPr wrap="square">
            <a:spAutoFit/>
          </a:bodyPr>
          <a:lstStyle/>
          <a:p>
            <a:pPr algn="l">
              <a:defRPr sz="800" b="0">
                <a:solidFill>
                  <a:srgbClr val="94A3B8"/>
                </a:solidFill>
                <a:latin typeface="Calibri"/>
              </a:defRPr>
            </a:pPr>
            <a:r>
              <a:t>These handle operations that take time. When we pick an image, the phone needs time to open the gallery. 'await' pauses the code until the image is picked. 'Future.delayed' creates an artificial wait (we use 2 seconds to simulate AI processing).</a:t>
            </a:r>
          </a:p>
        </p:txBody>
      </p:sp>
      <p:sp>
        <p:nvSpPr>
          <p:cNvPr id="21" name="Rounded Rectangle 20"/>
          <p:cNvSpPr/>
          <p:nvPr/>
        </p:nvSpPr>
        <p:spPr>
          <a:xfrm>
            <a:off x="731520" y="3566160"/>
            <a:ext cx="5394960" cy="91440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3566160"/>
            <a:ext cx="64008" cy="914400"/>
          </a:xfrm>
          <a:prstGeom prst="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3611879"/>
            <a:ext cx="4937760" cy="228600"/>
          </a:xfrm>
          <a:prstGeom prst="rect">
            <a:avLst/>
          </a:prstGeom>
          <a:noFill/>
        </p:spPr>
        <p:txBody>
          <a:bodyPr wrap="square">
            <a:spAutoFit/>
          </a:bodyPr>
          <a:lstStyle/>
          <a:p>
            <a:pPr algn="l">
              <a:defRPr sz="1100" b="1">
                <a:solidFill>
                  <a:srgbClr val="00D261"/>
                </a:solidFill>
                <a:latin typeface="Calibri"/>
              </a:defRPr>
            </a:pPr>
            <a:r>
              <a:t>CustomPainter</a:t>
            </a:r>
          </a:p>
        </p:txBody>
      </p:sp>
      <p:sp>
        <p:nvSpPr>
          <p:cNvPr id="24" name="TextBox 23"/>
          <p:cNvSpPr txBox="1"/>
          <p:nvPr/>
        </p:nvSpPr>
        <p:spPr>
          <a:xfrm>
            <a:off x="960120" y="3858768"/>
            <a:ext cx="4937760" cy="594360"/>
          </a:xfrm>
          <a:prstGeom prst="rect">
            <a:avLst/>
          </a:prstGeom>
          <a:noFill/>
        </p:spPr>
        <p:txBody>
          <a:bodyPr wrap="square">
            <a:spAutoFit/>
          </a:bodyPr>
          <a:lstStyle/>
          <a:p>
            <a:pPr algn="l">
              <a:defRPr sz="800" b="0">
                <a:solidFill>
                  <a:srgbClr val="94A3B8"/>
                </a:solidFill>
                <a:latin typeface="Calibri"/>
              </a:defRPr>
            </a:pPr>
            <a:r>
              <a:t>Flutter's canvas drawing API. We draw directly on the screen pixel by pixel. Used for: (1) The score ring — we draw an arc that fills based on score percentage, (2) The map grid — we draw lines, rectangles for roads and buildings. Shows advanced Flutter knowledge.</a:t>
            </a:r>
          </a:p>
        </p:txBody>
      </p:sp>
      <p:sp>
        <p:nvSpPr>
          <p:cNvPr id="25" name="Rounded Rectangle 24"/>
          <p:cNvSpPr/>
          <p:nvPr/>
        </p:nvSpPr>
        <p:spPr>
          <a:xfrm>
            <a:off x="6400800" y="3566160"/>
            <a:ext cx="5394960" cy="91440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00800" y="3566160"/>
            <a:ext cx="64008" cy="914400"/>
          </a:xfrm>
          <a:prstGeom prst="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29400" y="3611879"/>
            <a:ext cx="4937760" cy="228600"/>
          </a:xfrm>
          <a:prstGeom prst="rect">
            <a:avLst/>
          </a:prstGeom>
          <a:noFill/>
        </p:spPr>
        <p:txBody>
          <a:bodyPr wrap="square">
            <a:spAutoFit/>
          </a:bodyPr>
          <a:lstStyle/>
          <a:p>
            <a:pPr algn="l">
              <a:defRPr sz="1100" b="1">
                <a:solidFill>
                  <a:srgbClr val="00D261"/>
                </a:solidFill>
                <a:latin typeface="Calibri"/>
              </a:defRPr>
            </a:pPr>
            <a:r>
              <a:t>AnimationController + CurvedAnimation</a:t>
            </a:r>
          </a:p>
        </p:txBody>
      </p:sp>
      <p:sp>
        <p:nvSpPr>
          <p:cNvPr id="28" name="TextBox 27"/>
          <p:cNvSpPr txBox="1"/>
          <p:nvPr/>
        </p:nvSpPr>
        <p:spPr>
          <a:xfrm>
            <a:off x="6629400" y="3858768"/>
            <a:ext cx="4937760" cy="594360"/>
          </a:xfrm>
          <a:prstGeom prst="rect">
            <a:avLst/>
          </a:prstGeom>
          <a:noFill/>
        </p:spPr>
        <p:txBody>
          <a:bodyPr wrap="square">
            <a:spAutoFit/>
          </a:bodyPr>
          <a:lstStyle/>
          <a:p>
            <a:pPr algn="l">
              <a:defRPr sz="800" b="0">
                <a:solidFill>
                  <a:srgbClr val="94A3B8"/>
                </a:solidFill>
                <a:latin typeface="Calibri"/>
              </a:defRPr>
            </a:pPr>
            <a:r>
              <a:t>AnimationController controls the timing (how long, when to start). CurvedAnimation adds easing (elasticOut makes the logo bounce, easeOutCubic makes the score ring slow down at the end). We chain multiple controllers for staggered effects.</a:t>
            </a:r>
          </a:p>
        </p:txBody>
      </p:sp>
      <p:sp>
        <p:nvSpPr>
          <p:cNvPr id="29" name="Rounded Rectangle 28"/>
          <p:cNvSpPr/>
          <p:nvPr/>
        </p:nvSpPr>
        <p:spPr>
          <a:xfrm>
            <a:off x="731520" y="4617720"/>
            <a:ext cx="5394960" cy="91440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1520" y="4617720"/>
            <a:ext cx="64008" cy="914400"/>
          </a:xfrm>
          <a:prstGeom prst="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4663440"/>
            <a:ext cx="4937760" cy="228600"/>
          </a:xfrm>
          <a:prstGeom prst="rect">
            <a:avLst/>
          </a:prstGeom>
          <a:noFill/>
        </p:spPr>
        <p:txBody>
          <a:bodyPr wrap="square">
            <a:spAutoFit/>
          </a:bodyPr>
          <a:lstStyle/>
          <a:p>
            <a:pPr algn="l">
              <a:defRPr sz="1100" b="1">
                <a:solidFill>
                  <a:srgbClr val="00D261"/>
                </a:solidFill>
                <a:latin typeface="Calibri"/>
              </a:defRPr>
            </a:pPr>
            <a:r>
              <a:t>BottomSheet + AlertDialog</a:t>
            </a:r>
          </a:p>
        </p:txBody>
      </p:sp>
      <p:sp>
        <p:nvSpPr>
          <p:cNvPr id="32" name="TextBox 31"/>
          <p:cNvSpPr txBox="1"/>
          <p:nvPr/>
        </p:nvSpPr>
        <p:spPr>
          <a:xfrm>
            <a:off x="960120" y="4910328"/>
            <a:ext cx="4937760" cy="594360"/>
          </a:xfrm>
          <a:prstGeom prst="rect">
            <a:avLst/>
          </a:prstGeom>
          <a:noFill/>
        </p:spPr>
        <p:txBody>
          <a:bodyPr wrap="square">
            <a:spAutoFit/>
          </a:bodyPr>
          <a:lstStyle/>
          <a:p>
            <a:pPr algn="l">
              <a:defRPr sz="800" b="0">
                <a:solidFill>
                  <a:srgbClr val="94A3B8"/>
                </a:solidFill>
                <a:latin typeface="Calibri"/>
              </a:defRPr>
            </a:pPr>
            <a:r>
              <a:t>BottomSheet slides up from the bottom (used for space type selector, notifications settings, language picker). AlertDialog pops up in the center (used for edit profile, about app, logout confirmation). Both are modal — they block the screen behind.</a:t>
            </a:r>
          </a:p>
        </p:txBody>
      </p:sp>
      <p:sp>
        <p:nvSpPr>
          <p:cNvPr id="33" name="Rounded Rectangle 32"/>
          <p:cNvSpPr/>
          <p:nvPr/>
        </p:nvSpPr>
        <p:spPr>
          <a:xfrm>
            <a:off x="6400800" y="4617720"/>
            <a:ext cx="5394960" cy="91440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400800" y="4617720"/>
            <a:ext cx="64008" cy="914400"/>
          </a:xfrm>
          <a:prstGeom prst="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29400" y="4663440"/>
            <a:ext cx="4937760" cy="228600"/>
          </a:xfrm>
          <a:prstGeom prst="rect">
            <a:avLst/>
          </a:prstGeom>
          <a:noFill/>
        </p:spPr>
        <p:txBody>
          <a:bodyPr wrap="square">
            <a:spAutoFit/>
          </a:bodyPr>
          <a:lstStyle/>
          <a:p>
            <a:pPr algn="l">
              <a:defRPr sz="1100" b="1">
                <a:solidFill>
                  <a:srgbClr val="00D261"/>
                </a:solidFill>
                <a:latin typeface="Calibri"/>
              </a:defRPr>
            </a:pPr>
            <a:r>
              <a:t>GestureDetector + onTap</a:t>
            </a:r>
          </a:p>
        </p:txBody>
      </p:sp>
      <p:sp>
        <p:nvSpPr>
          <p:cNvPr id="36" name="TextBox 35"/>
          <p:cNvSpPr txBox="1"/>
          <p:nvPr/>
        </p:nvSpPr>
        <p:spPr>
          <a:xfrm>
            <a:off x="6629400" y="4910328"/>
            <a:ext cx="4937760" cy="594360"/>
          </a:xfrm>
          <a:prstGeom prst="rect">
            <a:avLst/>
          </a:prstGeom>
          <a:noFill/>
        </p:spPr>
        <p:txBody>
          <a:bodyPr wrap="square">
            <a:spAutoFit/>
          </a:bodyPr>
          <a:lstStyle/>
          <a:p>
            <a:pPr algn="l">
              <a:defRPr sz="800" b="0">
                <a:solidFill>
                  <a:srgbClr val="94A3B8"/>
                </a:solidFill>
                <a:latin typeface="Calibri"/>
              </a:defRPr>
            </a:pPr>
            <a:r>
              <a:t>GestureDetector wraps any widget to make it tappable. We use it on cards, buttons, map pins, badges, settings items, and more. Without it, containers and text are not interactive. Every interactive element in the app uses GestureDetector.</a:t>
            </a:r>
          </a:p>
        </p:txBody>
      </p:sp>
      <p:sp>
        <p:nvSpPr>
          <p:cNvPr id="37" name="Rounded Rectangle 36"/>
          <p:cNvSpPr/>
          <p:nvPr/>
        </p:nvSpPr>
        <p:spPr>
          <a:xfrm>
            <a:off x="731520" y="5669279"/>
            <a:ext cx="5394960" cy="91440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31520" y="5669279"/>
            <a:ext cx="64008" cy="914400"/>
          </a:xfrm>
          <a:prstGeom prst="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60120" y="5714999"/>
            <a:ext cx="4937760" cy="228600"/>
          </a:xfrm>
          <a:prstGeom prst="rect">
            <a:avLst/>
          </a:prstGeom>
          <a:noFill/>
        </p:spPr>
        <p:txBody>
          <a:bodyPr wrap="square">
            <a:spAutoFit/>
          </a:bodyPr>
          <a:lstStyle/>
          <a:p>
            <a:pPr algn="l">
              <a:defRPr sz="1100" b="1">
                <a:solidFill>
                  <a:srgbClr val="00D261"/>
                </a:solidFill>
                <a:latin typeface="Calibri"/>
              </a:defRPr>
            </a:pPr>
            <a:r>
              <a:t>SingleChildScrollView + ListView</a:t>
            </a:r>
          </a:p>
        </p:txBody>
      </p:sp>
      <p:sp>
        <p:nvSpPr>
          <p:cNvPr id="40" name="TextBox 39"/>
          <p:cNvSpPr txBox="1"/>
          <p:nvPr/>
        </p:nvSpPr>
        <p:spPr>
          <a:xfrm>
            <a:off x="960120" y="5961888"/>
            <a:ext cx="4937760" cy="594360"/>
          </a:xfrm>
          <a:prstGeom prst="rect">
            <a:avLst/>
          </a:prstGeom>
          <a:noFill/>
        </p:spPr>
        <p:txBody>
          <a:bodyPr wrap="square">
            <a:spAutoFit/>
          </a:bodyPr>
          <a:lstStyle/>
          <a:p>
            <a:pPr algn="l">
              <a:defRPr sz="800" b="0">
                <a:solidFill>
                  <a:srgbClr val="94A3B8"/>
                </a:solidFill>
                <a:latin typeface="Calibri"/>
              </a:defRPr>
            </a:pPr>
            <a:r>
              <a:t>SingleChildScrollView makes a Column scrollable (used on Home, Profile). ListView.builder is for long lists — it only builds the items visible on screen, making it memory efficient (used on Feed). Without scrolling, content would overflow on small screens.</a:t>
            </a:r>
          </a:p>
        </p:txBody>
      </p:sp>
      <p:sp>
        <p:nvSpPr>
          <p:cNvPr id="41" name="Rounded Rectangle 40"/>
          <p:cNvSpPr/>
          <p:nvPr/>
        </p:nvSpPr>
        <p:spPr>
          <a:xfrm>
            <a:off x="6400800" y="5669279"/>
            <a:ext cx="5394960" cy="91440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400800" y="5669279"/>
            <a:ext cx="64008" cy="914400"/>
          </a:xfrm>
          <a:prstGeom prst="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29400" y="5714999"/>
            <a:ext cx="4937760" cy="228600"/>
          </a:xfrm>
          <a:prstGeom prst="rect">
            <a:avLst/>
          </a:prstGeom>
          <a:noFill/>
        </p:spPr>
        <p:txBody>
          <a:bodyPr wrap="square">
            <a:spAutoFit/>
          </a:bodyPr>
          <a:lstStyle/>
          <a:p>
            <a:pPr algn="l">
              <a:defRPr sz="1100" b="1">
                <a:solidFill>
                  <a:srgbClr val="00D261"/>
                </a:solidFill>
                <a:latin typeface="Calibri"/>
              </a:defRPr>
            </a:pPr>
            <a:r>
              <a:t>image_picker Package</a:t>
            </a:r>
          </a:p>
        </p:txBody>
      </p:sp>
      <p:sp>
        <p:nvSpPr>
          <p:cNvPr id="44" name="TextBox 43"/>
          <p:cNvSpPr txBox="1"/>
          <p:nvPr/>
        </p:nvSpPr>
        <p:spPr>
          <a:xfrm>
            <a:off x="6629400" y="5961888"/>
            <a:ext cx="4937760" cy="594360"/>
          </a:xfrm>
          <a:prstGeom prst="rect">
            <a:avLst/>
          </a:prstGeom>
          <a:noFill/>
        </p:spPr>
        <p:txBody>
          <a:bodyPr wrap="square">
            <a:spAutoFit/>
          </a:bodyPr>
          <a:lstStyle/>
          <a:p>
            <a:pPr algn="l">
              <a:defRPr sz="800" b="0">
                <a:solidFill>
                  <a:srgbClr val="94A3B8"/>
                </a:solidFill>
                <a:latin typeface="Calibri"/>
              </a:defRPr>
            </a:pPr>
            <a:r>
              <a:t>External Flutter package (added in pubspec.yaml). Provides ImagePicker class with pickImage() method. Supports two sources: ImageSource.camera (opens camera) and ImageSource.gallery (opens photo picker). Returns an XFile with the image path.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640080"/>
          </a:xfrm>
          <a:prstGeom prst="rect">
            <a:avLst/>
          </a:prstGeom>
          <a:noFill/>
        </p:spPr>
        <p:txBody>
          <a:bodyPr wrap="square">
            <a:spAutoFit/>
          </a:bodyPr>
          <a:lstStyle/>
          <a:p>
            <a:pPr algn="l">
              <a:defRPr sz="3600" b="1">
                <a:solidFill>
                  <a:srgbClr val="0F172A"/>
                </a:solidFill>
                <a:latin typeface="Calibri"/>
              </a:defRPr>
            </a:pPr>
            <a:r>
              <a:t>Live Demo Plan</a:t>
            </a:r>
          </a:p>
        </p:txBody>
      </p:sp>
      <p:sp>
        <p:nvSpPr>
          <p:cNvPr id="4" name="TextBox 3"/>
          <p:cNvSpPr txBox="1"/>
          <p:nvPr/>
        </p:nvSpPr>
        <p:spPr>
          <a:xfrm>
            <a:off x="731520" y="914400"/>
            <a:ext cx="9144000" cy="457200"/>
          </a:xfrm>
          <a:prstGeom prst="rect">
            <a:avLst/>
          </a:prstGeom>
          <a:noFill/>
        </p:spPr>
        <p:txBody>
          <a:bodyPr wrap="square">
            <a:spAutoFit/>
          </a:bodyPr>
          <a:lstStyle/>
          <a:p>
            <a:pPr algn="l">
              <a:defRPr sz="1500" b="0">
                <a:solidFill>
                  <a:srgbClr val="64748B"/>
                </a:solidFill>
                <a:latin typeface="Calibri"/>
              </a:defRPr>
            </a:pPr>
            <a:r>
              <a:t>Exact demo script — what to show, in what order, and what to say</a:t>
            </a:r>
          </a:p>
        </p:txBody>
      </p:sp>
      <p:sp>
        <p:nvSpPr>
          <p:cNvPr id="5" name="Rounded Rectangle 4"/>
          <p:cNvSpPr/>
          <p:nvPr/>
        </p:nvSpPr>
        <p:spPr>
          <a:xfrm>
            <a:off x="731520" y="1463040"/>
            <a:ext cx="539496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1600200"/>
            <a:ext cx="411480" cy="411480"/>
          </a:xfrm>
          <a:prstGeom prst="round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09344"/>
            <a:ext cx="411480" cy="411480"/>
          </a:xfrm>
          <a:prstGeom prst="rect">
            <a:avLst/>
          </a:prstGeom>
          <a:noFill/>
        </p:spPr>
        <p:txBody>
          <a:bodyPr wrap="square">
            <a:spAutoFit/>
          </a:bodyPr>
          <a:lstStyle/>
          <a:p>
            <a:pPr algn="ctr">
              <a:defRPr sz="1500" b="1">
                <a:solidFill>
                  <a:srgbClr val="FFFFFF"/>
                </a:solidFill>
                <a:latin typeface="Calibri"/>
              </a:defRPr>
            </a:pPr>
            <a:r>
              <a:t>1</a:t>
            </a:r>
          </a:p>
        </p:txBody>
      </p:sp>
      <p:sp>
        <p:nvSpPr>
          <p:cNvPr id="8" name="TextBox 7"/>
          <p:cNvSpPr txBox="1"/>
          <p:nvPr/>
        </p:nvSpPr>
        <p:spPr>
          <a:xfrm>
            <a:off x="1463040" y="1554480"/>
            <a:ext cx="4389120" cy="274320"/>
          </a:xfrm>
          <a:prstGeom prst="rect">
            <a:avLst/>
          </a:prstGeom>
          <a:noFill/>
        </p:spPr>
        <p:txBody>
          <a:bodyPr wrap="square">
            <a:spAutoFit/>
          </a:bodyPr>
          <a:lstStyle/>
          <a:p>
            <a:pPr algn="l">
              <a:defRPr sz="1200" b="1">
                <a:solidFill>
                  <a:srgbClr val="0F172A"/>
                </a:solidFill>
                <a:latin typeface="Calibri"/>
              </a:defRPr>
            </a:pPr>
            <a:r>
              <a:t>App Launch (30 sec)</a:t>
            </a:r>
          </a:p>
        </p:txBody>
      </p:sp>
      <p:sp>
        <p:nvSpPr>
          <p:cNvPr id="9" name="TextBox 8"/>
          <p:cNvSpPr txBox="1"/>
          <p:nvPr/>
        </p:nvSpPr>
        <p:spPr>
          <a:xfrm>
            <a:off x="1463040" y="1847088"/>
            <a:ext cx="4389120" cy="731520"/>
          </a:xfrm>
          <a:prstGeom prst="rect">
            <a:avLst/>
          </a:prstGeom>
          <a:noFill/>
        </p:spPr>
        <p:txBody>
          <a:bodyPr wrap="square">
            <a:spAutoFit/>
          </a:bodyPr>
          <a:lstStyle/>
          <a:p>
            <a:pPr algn="l">
              <a:defRPr sz="850" b="0">
                <a:solidFill>
                  <a:srgbClr val="64748B"/>
                </a:solidFill>
                <a:latin typeface="Calibri"/>
              </a:defRPr>
            </a:pPr>
            <a:r>
              <a:t>Open the app. Show the animated splash screen — logo bounces in, title slides up, tagline fades in. After 3 seconds it automatically transitions to the home dashboard. Point out the smooth fade transition.</a:t>
            </a:r>
          </a:p>
        </p:txBody>
      </p:sp>
      <p:sp>
        <p:nvSpPr>
          <p:cNvPr id="10" name="Rounded Rectangle 9"/>
          <p:cNvSpPr/>
          <p:nvPr/>
        </p:nvSpPr>
        <p:spPr>
          <a:xfrm>
            <a:off x="6400800" y="1463040"/>
            <a:ext cx="539496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37960" y="1600200"/>
            <a:ext cx="411480" cy="411480"/>
          </a:xfrm>
          <a:prstGeom prst="roundRect">
            <a:avLst/>
          </a:prstGeom>
          <a:solidFill>
            <a:srgbClr val="4F7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1609344"/>
            <a:ext cx="411480" cy="411480"/>
          </a:xfrm>
          <a:prstGeom prst="rect">
            <a:avLst/>
          </a:prstGeom>
          <a:noFill/>
        </p:spPr>
        <p:txBody>
          <a:bodyPr wrap="square">
            <a:spAutoFit/>
          </a:bodyPr>
          <a:lstStyle/>
          <a:p>
            <a:pPr algn="ctr">
              <a:defRPr sz="1500" b="1">
                <a:solidFill>
                  <a:srgbClr val="FFFFFF"/>
                </a:solidFill>
                <a:latin typeface="Calibri"/>
              </a:defRPr>
            </a:pPr>
            <a:r>
              <a:t>2</a:t>
            </a:r>
          </a:p>
        </p:txBody>
      </p:sp>
      <p:sp>
        <p:nvSpPr>
          <p:cNvPr id="13" name="TextBox 12"/>
          <p:cNvSpPr txBox="1"/>
          <p:nvPr/>
        </p:nvSpPr>
        <p:spPr>
          <a:xfrm>
            <a:off x="7132320" y="1554480"/>
            <a:ext cx="4389120" cy="274320"/>
          </a:xfrm>
          <a:prstGeom prst="rect">
            <a:avLst/>
          </a:prstGeom>
          <a:noFill/>
        </p:spPr>
        <p:txBody>
          <a:bodyPr wrap="square">
            <a:spAutoFit/>
          </a:bodyPr>
          <a:lstStyle/>
          <a:p>
            <a:pPr algn="l">
              <a:defRPr sz="1200" b="1">
                <a:solidFill>
                  <a:srgbClr val="0F172A"/>
                </a:solidFill>
                <a:latin typeface="Calibri"/>
              </a:defRPr>
            </a:pPr>
            <a:r>
              <a:t>Home Dashboard (1 min)</a:t>
            </a:r>
          </a:p>
        </p:txBody>
      </p:sp>
      <p:sp>
        <p:nvSpPr>
          <p:cNvPr id="14" name="TextBox 13"/>
          <p:cNvSpPr txBox="1"/>
          <p:nvPr/>
        </p:nvSpPr>
        <p:spPr>
          <a:xfrm>
            <a:off x="7132320" y="1847088"/>
            <a:ext cx="4389120" cy="731520"/>
          </a:xfrm>
          <a:prstGeom prst="rect">
            <a:avLst/>
          </a:prstGeom>
          <a:noFill/>
        </p:spPr>
        <p:txBody>
          <a:bodyPr wrap="square">
            <a:spAutoFit/>
          </a:bodyPr>
          <a:lstStyle/>
          <a:p>
            <a:pPr algn="l">
              <a:defRPr sz="850" b="0">
                <a:solidFill>
                  <a:srgbClr val="64748B"/>
                </a:solidFill>
                <a:latin typeface="Calibri"/>
              </a:defRPr>
            </a:pPr>
            <a:r>
              <a:t>Walk through: greeting with your name, green avatar, notification bell (tap it — shows snackbar). Dark hero card with stats. Tap 'Scan Now' — it goes to scan tab. Come back. Show quick scan categories, impact cards, recent audits with colored scores, bottom tip card.</a:t>
            </a:r>
          </a:p>
        </p:txBody>
      </p:sp>
      <p:sp>
        <p:nvSpPr>
          <p:cNvPr id="15" name="Rounded Rectangle 14"/>
          <p:cNvSpPr/>
          <p:nvPr/>
        </p:nvSpPr>
        <p:spPr>
          <a:xfrm>
            <a:off x="731520" y="2743200"/>
            <a:ext cx="539496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68680" y="2880360"/>
            <a:ext cx="411480" cy="411480"/>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2889504"/>
            <a:ext cx="411480" cy="411480"/>
          </a:xfrm>
          <a:prstGeom prst="rect">
            <a:avLst/>
          </a:prstGeom>
          <a:noFill/>
        </p:spPr>
        <p:txBody>
          <a:bodyPr wrap="square">
            <a:spAutoFit/>
          </a:bodyPr>
          <a:lstStyle/>
          <a:p>
            <a:pPr algn="ctr">
              <a:defRPr sz="1500" b="1">
                <a:solidFill>
                  <a:srgbClr val="FFFFFF"/>
                </a:solidFill>
                <a:latin typeface="Calibri"/>
              </a:defRPr>
            </a:pPr>
            <a:r>
              <a:t>3</a:t>
            </a:r>
          </a:p>
        </p:txBody>
      </p:sp>
      <p:sp>
        <p:nvSpPr>
          <p:cNvPr id="18" name="TextBox 17"/>
          <p:cNvSpPr txBox="1"/>
          <p:nvPr/>
        </p:nvSpPr>
        <p:spPr>
          <a:xfrm>
            <a:off x="1463040" y="2834640"/>
            <a:ext cx="4389120" cy="274320"/>
          </a:xfrm>
          <a:prstGeom prst="rect">
            <a:avLst/>
          </a:prstGeom>
          <a:noFill/>
        </p:spPr>
        <p:txBody>
          <a:bodyPr wrap="square">
            <a:spAutoFit/>
          </a:bodyPr>
          <a:lstStyle/>
          <a:p>
            <a:pPr algn="l">
              <a:defRPr sz="1200" b="1">
                <a:solidFill>
                  <a:srgbClr val="0F172A"/>
                </a:solidFill>
                <a:latin typeface="Calibri"/>
              </a:defRPr>
            </a:pPr>
            <a:r>
              <a:t>Scan with Preset Type (1.5 min)</a:t>
            </a:r>
          </a:p>
        </p:txBody>
      </p:sp>
      <p:sp>
        <p:nvSpPr>
          <p:cNvPr id="19" name="TextBox 18"/>
          <p:cNvSpPr txBox="1"/>
          <p:nvPr/>
        </p:nvSpPr>
        <p:spPr>
          <a:xfrm>
            <a:off x="1463040" y="3127248"/>
            <a:ext cx="4389120" cy="731520"/>
          </a:xfrm>
          <a:prstGeom prst="rect">
            <a:avLst/>
          </a:prstGeom>
          <a:noFill/>
        </p:spPr>
        <p:txBody>
          <a:bodyPr wrap="square">
            <a:spAutoFit/>
          </a:bodyPr>
          <a:lstStyle/>
          <a:p>
            <a:pPr algn="l">
              <a:defRPr sz="850" b="0">
                <a:solidFill>
                  <a:srgbClr val="64748B"/>
                </a:solidFill>
                <a:latin typeface="Calibri"/>
              </a:defRPr>
            </a:pPr>
            <a:r>
              <a:t>Go to Scan tab. Tap 'Upload from Gallery'. Pick a photo of a RAMP from campus. Bottom sheet appears — tap 'Ramp'. Watch the 2-second analyzing animation. Results screen appears with animated score ring filling up. Walk through each issue card.</a:t>
            </a:r>
          </a:p>
        </p:txBody>
      </p:sp>
      <p:sp>
        <p:nvSpPr>
          <p:cNvPr id="20" name="Rounded Rectangle 19"/>
          <p:cNvSpPr/>
          <p:nvPr/>
        </p:nvSpPr>
        <p:spPr>
          <a:xfrm>
            <a:off x="6400800" y="2743200"/>
            <a:ext cx="539496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537960" y="2880360"/>
            <a:ext cx="411480" cy="411480"/>
          </a:xfrm>
          <a:prstGeom prst="roundRect">
            <a:avLst/>
          </a:prstGeom>
          <a:solidFill>
            <a:srgbClr val="FFB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37960" y="2889504"/>
            <a:ext cx="411480" cy="411480"/>
          </a:xfrm>
          <a:prstGeom prst="rect">
            <a:avLst/>
          </a:prstGeom>
          <a:noFill/>
        </p:spPr>
        <p:txBody>
          <a:bodyPr wrap="square">
            <a:spAutoFit/>
          </a:bodyPr>
          <a:lstStyle/>
          <a:p>
            <a:pPr algn="ctr">
              <a:defRPr sz="1500" b="1">
                <a:solidFill>
                  <a:srgbClr val="FFFFFF"/>
                </a:solidFill>
                <a:latin typeface="Calibri"/>
              </a:defRPr>
            </a:pPr>
            <a:r>
              <a:t>4</a:t>
            </a:r>
          </a:p>
        </p:txBody>
      </p:sp>
      <p:sp>
        <p:nvSpPr>
          <p:cNvPr id="23" name="TextBox 22"/>
          <p:cNvSpPr txBox="1"/>
          <p:nvPr/>
        </p:nvSpPr>
        <p:spPr>
          <a:xfrm>
            <a:off x="7132320" y="2834640"/>
            <a:ext cx="4389120" cy="274320"/>
          </a:xfrm>
          <a:prstGeom prst="rect">
            <a:avLst/>
          </a:prstGeom>
          <a:noFill/>
        </p:spPr>
        <p:txBody>
          <a:bodyPr wrap="square">
            <a:spAutoFit/>
          </a:bodyPr>
          <a:lstStyle/>
          <a:p>
            <a:pPr algn="l">
              <a:defRPr sz="1200" b="1">
                <a:solidFill>
                  <a:srgbClr val="0F172A"/>
                </a:solidFill>
                <a:latin typeface="Calibri"/>
              </a:defRPr>
            </a:pPr>
            <a:r>
              <a:t>Scan with Custom Description (1.5 min)</a:t>
            </a:r>
          </a:p>
        </p:txBody>
      </p:sp>
      <p:sp>
        <p:nvSpPr>
          <p:cNvPr id="24" name="TextBox 23"/>
          <p:cNvSpPr txBox="1"/>
          <p:nvPr/>
        </p:nvSpPr>
        <p:spPr>
          <a:xfrm>
            <a:off x="7132320" y="3127248"/>
            <a:ext cx="4389120" cy="731520"/>
          </a:xfrm>
          <a:prstGeom prst="rect">
            <a:avLst/>
          </a:prstGeom>
          <a:noFill/>
        </p:spPr>
        <p:txBody>
          <a:bodyPr wrap="square">
            <a:spAutoFit/>
          </a:bodyPr>
          <a:lstStyle/>
          <a:p>
            <a:pPr algn="l">
              <a:defRPr sz="850" b="0">
                <a:solidFill>
                  <a:srgbClr val="64748B"/>
                </a:solidFill>
                <a:latin typeface="Calibri"/>
              </a:defRPr>
            </a:pPr>
            <a:r>
              <a:t>Go back. Upload a photo of a ROAD or PARKING area. This time, tap 'Describe the Space'. Type 'road area near campus' or tap the suggestion chip. Hit Analyze. Show that the results now say 'Road / Pathway' with relevant criteria like curb cuts and surface condition.</a:t>
            </a:r>
          </a:p>
        </p:txBody>
      </p:sp>
      <p:sp>
        <p:nvSpPr>
          <p:cNvPr id="25" name="Rounded Rectangle 24"/>
          <p:cNvSpPr/>
          <p:nvPr/>
        </p:nvSpPr>
        <p:spPr>
          <a:xfrm>
            <a:off x="731520" y="4023360"/>
            <a:ext cx="539496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68680" y="4160520"/>
            <a:ext cx="411480" cy="411480"/>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4169664"/>
            <a:ext cx="411480" cy="411480"/>
          </a:xfrm>
          <a:prstGeom prst="rect">
            <a:avLst/>
          </a:prstGeom>
          <a:noFill/>
        </p:spPr>
        <p:txBody>
          <a:bodyPr wrap="square">
            <a:spAutoFit/>
          </a:bodyPr>
          <a:lstStyle/>
          <a:p>
            <a:pPr algn="ctr">
              <a:defRPr sz="1500" b="1">
                <a:solidFill>
                  <a:srgbClr val="FFFFFF"/>
                </a:solidFill>
                <a:latin typeface="Calibri"/>
              </a:defRPr>
            </a:pPr>
            <a:r>
              <a:t>5</a:t>
            </a:r>
          </a:p>
        </p:txBody>
      </p:sp>
      <p:sp>
        <p:nvSpPr>
          <p:cNvPr id="28" name="TextBox 27"/>
          <p:cNvSpPr txBox="1"/>
          <p:nvPr/>
        </p:nvSpPr>
        <p:spPr>
          <a:xfrm>
            <a:off x="1463040" y="4114800"/>
            <a:ext cx="4389120" cy="274320"/>
          </a:xfrm>
          <a:prstGeom prst="rect">
            <a:avLst/>
          </a:prstGeom>
          <a:noFill/>
        </p:spPr>
        <p:txBody>
          <a:bodyPr wrap="square">
            <a:spAutoFit/>
          </a:bodyPr>
          <a:lstStyle/>
          <a:p>
            <a:pPr algn="l">
              <a:defRPr sz="1200" b="1">
                <a:solidFill>
                  <a:srgbClr val="0F172A"/>
                </a:solidFill>
                <a:latin typeface="Calibri"/>
              </a:defRPr>
            </a:pPr>
            <a:r>
              <a:t>Map Screen (45 sec)</a:t>
            </a:r>
          </a:p>
        </p:txBody>
      </p:sp>
      <p:sp>
        <p:nvSpPr>
          <p:cNvPr id="29" name="TextBox 28"/>
          <p:cNvSpPr txBox="1"/>
          <p:nvPr/>
        </p:nvSpPr>
        <p:spPr>
          <a:xfrm>
            <a:off x="1463040" y="4407408"/>
            <a:ext cx="4389120" cy="731520"/>
          </a:xfrm>
          <a:prstGeom prst="rect">
            <a:avLst/>
          </a:prstGeom>
          <a:noFill/>
        </p:spPr>
        <p:txBody>
          <a:bodyPr wrap="square">
            <a:spAutoFit/>
          </a:bodyPr>
          <a:lstStyle/>
          <a:p>
            <a:pPr algn="l">
              <a:defRPr sz="850" b="0">
                <a:solidFill>
                  <a:srgbClr val="64748B"/>
                </a:solidFill>
                <a:latin typeface="Calibri"/>
              </a:defRPr>
            </a:pPr>
            <a:r>
              <a:t>Switch to Map tab. Show the campus map with colored pins. Tap a pin — name tooltip appears. Tap filter chips — pins filter by type. Scroll the location cards at bottom. Tap a card — the matching pin highlights on the map.</a:t>
            </a:r>
          </a:p>
        </p:txBody>
      </p:sp>
      <p:sp>
        <p:nvSpPr>
          <p:cNvPr id="30" name="Rounded Rectangle 29"/>
          <p:cNvSpPr/>
          <p:nvPr/>
        </p:nvSpPr>
        <p:spPr>
          <a:xfrm>
            <a:off x="6400800" y="4023360"/>
            <a:ext cx="539496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537960" y="4160520"/>
            <a:ext cx="411480" cy="411480"/>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37960" y="4169664"/>
            <a:ext cx="411480" cy="411480"/>
          </a:xfrm>
          <a:prstGeom prst="rect">
            <a:avLst/>
          </a:prstGeom>
          <a:noFill/>
        </p:spPr>
        <p:txBody>
          <a:bodyPr wrap="square">
            <a:spAutoFit/>
          </a:bodyPr>
          <a:lstStyle/>
          <a:p>
            <a:pPr algn="ctr">
              <a:defRPr sz="1500" b="1">
                <a:solidFill>
                  <a:srgbClr val="FFFFFF"/>
                </a:solidFill>
                <a:latin typeface="Calibri"/>
              </a:defRPr>
            </a:pPr>
            <a:r>
              <a:t>6</a:t>
            </a:r>
          </a:p>
        </p:txBody>
      </p:sp>
      <p:sp>
        <p:nvSpPr>
          <p:cNvPr id="33" name="TextBox 32"/>
          <p:cNvSpPr txBox="1"/>
          <p:nvPr/>
        </p:nvSpPr>
        <p:spPr>
          <a:xfrm>
            <a:off x="7132320" y="4114800"/>
            <a:ext cx="4389120" cy="274320"/>
          </a:xfrm>
          <a:prstGeom prst="rect">
            <a:avLst/>
          </a:prstGeom>
          <a:noFill/>
        </p:spPr>
        <p:txBody>
          <a:bodyPr wrap="square">
            <a:spAutoFit/>
          </a:bodyPr>
          <a:lstStyle/>
          <a:p>
            <a:pPr algn="l">
              <a:defRPr sz="1200" b="1">
                <a:solidFill>
                  <a:srgbClr val="0F172A"/>
                </a:solidFill>
                <a:latin typeface="Calibri"/>
              </a:defRPr>
            </a:pPr>
            <a:r>
              <a:t>Community Feed (30 sec)</a:t>
            </a:r>
          </a:p>
        </p:txBody>
      </p:sp>
      <p:sp>
        <p:nvSpPr>
          <p:cNvPr id="34" name="TextBox 33"/>
          <p:cNvSpPr txBox="1"/>
          <p:nvPr/>
        </p:nvSpPr>
        <p:spPr>
          <a:xfrm>
            <a:off x="7132320" y="4407408"/>
            <a:ext cx="4389120" cy="731520"/>
          </a:xfrm>
          <a:prstGeom prst="rect">
            <a:avLst/>
          </a:prstGeom>
          <a:noFill/>
        </p:spPr>
        <p:txBody>
          <a:bodyPr wrap="square">
            <a:spAutoFit/>
          </a:bodyPr>
          <a:lstStyle/>
          <a:p>
            <a:pPr algn="l">
              <a:defRPr sz="850" b="0">
                <a:solidFill>
                  <a:srgbClr val="64748B"/>
                </a:solidFill>
                <a:latin typeface="Calibri"/>
              </a:defRPr>
            </a:pPr>
            <a:r>
              <a:t>Switch to Feed tab. Scroll through community audits. Point out different users, different scores (green/orange/red), location names, descriptions, like and comment counts. Show filter chips at top.</a:t>
            </a:r>
          </a:p>
        </p:txBody>
      </p:sp>
      <p:sp>
        <p:nvSpPr>
          <p:cNvPr id="35" name="Rounded Rectangle 34"/>
          <p:cNvSpPr/>
          <p:nvPr/>
        </p:nvSpPr>
        <p:spPr>
          <a:xfrm>
            <a:off x="731520" y="5303519"/>
            <a:ext cx="539496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68680" y="5440679"/>
            <a:ext cx="411480" cy="411480"/>
          </a:xfrm>
          <a:prstGeom prst="round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8680" y="5449823"/>
            <a:ext cx="411480" cy="411480"/>
          </a:xfrm>
          <a:prstGeom prst="rect">
            <a:avLst/>
          </a:prstGeom>
          <a:noFill/>
        </p:spPr>
        <p:txBody>
          <a:bodyPr wrap="square">
            <a:spAutoFit/>
          </a:bodyPr>
          <a:lstStyle/>
          <a:p>
            <a:pPr algn="ctr">
              <a:defRPr sz="1500" b="1">
                <a:solidFill>
                  <a:srgbClr val="FFFFFF"/>
                </a:solidFill>
                <a:latin typeface="Calibri"/>
              </a:defRPr>
            </a:pPr>
            <a:r>
              <a:t>7</a:t>
            </a:r>
          </a:p>
        </p:txBody>
      </p:sp>
      <p:sp>
        <p:nvSpPr>
          <p:cNvPr id="38" name="TextBox 37"/>
          <p:cNvSpPr txBox="1"/>
          <p:nvPr/>
        </p:nvSpPr>
        <p:spPr>
          <a:xfrm>
            <a:off x="1463040" y="5394959"/>
            <a:ext cx="4389120" cy="274320"/>
          </a:xfrm>
          <a:prstGeom prst="rect">
            <a:avLst/>
          </a:prstGeom>
          <a:noFill/>
        </p:spPr>
        <p:txBody>
          <a:bodyPr wrap="square">
            <a:spAutoFit/>
          </a:bodyPr>
          <a:lstStyle/>
          <a:p>
            <a:pPr algn="l">
              <a:defRPr sz="1200" b="1">
                <a:solidFill>
                  <a:srgbClr val="0F172A"/>
                </a:solidFill>
                <a:latin typeface="Calibri"/>
              </a:defRPr>
            </a:pPr>
            <a:r>
              <a:t>Profile &amp; Settings (1 min)</a:t>
            </a:r>
          </a:p>
        </p:txBody>
      </p:sp>
      <p:sp>
        <p:nvSpPr>
          <p:cNvPr id="39" name="TextBox 38"/>
          <p:cNvSpPr txBox="1"/>
          <p:nvPr/>
        </p:nvSpPr>
        <p:spPr>
          <a:xfrm>
            <a:off x="1463040" y="5687567"/>
            <a:ext cx="4389120" cy="731520"/>
          </a:xfrm>
          <a:prstGeom prst="rect">
            <a:avLst/>
          </a:prstGeom>
          <a:noFill/>
        </p:spPr>
        <p:txBody>
          <a:bodyPr wrap="square">
            <a:spAutoFit/>
          </a:bodyPr>
          <a:lstStyle/>
          <a:p>
            <a:pPr algn="l">
              <a:defRPr sz="850" b="0">
                <a:solidFill>
                  <a:srgbClr val="64748B"/>
                </a:solidFill>
                <a:latin typeface="Calibri"/>
              </a:defRPr>
            </a:pPr>
            <a:r>
              <a:t>Switch to Profile tab. Show your stats, earned badges (tap one — shows snackbar), 7-day streak. Scroll to settings. Tap Edit Profile — show dialog. Tap Language — show selector with flags. Tap About WheelScan — show app info with your name. Tap Log Out — show confirmation.</a:t>
            </a:r>
          </a:p>
        </p:txBody>
      </p:sp>
      <p:sp>
        <p:nvSpPr>
          <p:cNvPr id="40" name="Rounded Rectangle 39"/>
          <p:cNvSpPr/>
          <p:nvPr/>
        </p:nvSpPr>
        <p:spPr>
          <a:xfrm>
            <a:off x="6400800" y="5303519"/>
            <a:ext cx="539496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537960" y="5440679"/>
            <a:ext cx="411480" cy="411480"/>
          </a:xfrm>
          <a:prstGeom prst="roundRect">
            <a:avLst/>
          </a:prstGeom>
          <a:solidFill>
            <a:srgbClr val="4F7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37960" y="5449823"/>
            <a:ext cx="411480" cy="411480"/>
          </a:xfrm>
          <a:prstGeom prst="rect">
            <a:avLst/>
          </a:prstGeom>
          <a:noFill/>
        </p:spPr>
        <p:txBody>
          <a:bodyPr wrap="square">
            <a:spAutoFit/>
          </a:bodyPr>
          <a:lstStyle/>
          <a:p>
            <a:pPr algn="ctr">
              <a:defRPr sz="1500" b="1">
                <a:solidFill>
                  <a:srgbClr val="FFFFFF"/>
                </a:solidFill>
                <a:latin typeface="Calibri"/>
              </a:defRPr>
            </a:pPr>
            <a:r>
              <a:t>8</a:t>
            </a:r>
          </a:p>
        </p:txBody>
      </p:sp>
      <p:sp>
        <p:nvSpPr>
          <p:cNvPr id="43" name="TextBox 42"/>
          <p:cNvSpPr txBox="1"/>
          <p:nvPr/>
        </p:nvSpPr>
        <p:spPr>
          <a:xfrm>
            <a:off x="7132320" y="5394959"/>
            <a:ext cx="4389120" cy="274320"/>
          </a:xfrm>
          <a:prstGeom prst="rect">
            <a:avLst/>
          </a:prstGeom>
          <a:noFill/>
        </p:spPr>
        <p:txBody>
          <a:bodyPr wrap="square">
            <a:spAutoFit/>
          </a:bodyPr>
          <a:lstStyle/>
          <a:p>
            <a:pPr algn="l">
              <a:defRPr sz="1200" b="1">
                <a:solidFill>
                  <a:srgbClr val="0F172A"/>
                </a:solidFill>
                <a:latin typeface="Calibri"/>
              </a:defRPr>
            </a:pPr>
            <a:r>
              <a:t>Closing Statement (30 sec)</a:t>
            </a:r>
          </a:p>
        </p:txBody>
      </p:sp>
      <p:sp>
        <p:nvSpPr>
          <p:cNvPr id="44" name="TextBox 43"/>
          <p:cNvSpPr txBox="1"/>
          <p:nvPr/>
        </p:nvSpPr>
        <p:spPr>
          <a:xfrm>
            <a:off x="7132320" y="5687567"/>
            <a:ext cx="4389120" cy="731520"/>
          </a:xfrm>
          <a:prstGeom prst="rect">
            <a:avLst/>
          </a:prstGeom>
          <a:noFill/>
        </p:spPr>
        <p:txBody>
          <a:bodyPr wrap="square">
            <a:spAutoFit/>
          </a:bodyPr>
          <a:lstStyle/>
          <a:p>
            <a:pPr algn="l">
              <a:defRPr sz="850" b="0">
                <a:solidFill>
                  <a:srgbClr val="64748B"/>
                </a:solidFill>
                <a:latin typeface="Calibri"/>
              </a:defRPr>
            </a:pPr>
            <a:r>
              <a:t>Summarize: 'WheelScan demonstrates 7 screens, 12+ space categories, animated UI, and a keyword-based AI engine — all built in Flutter/Dart. In production, we would add a real TFLite model, Firebase backend, and Google Maps.'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F2E"/>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640080"/>
          </a:xfrm>
          <a:prstGeom prst="rect">
            <a:avLst/>
          </a:prstGeom>
          <a:noFill/>
        </p:spPr>
        <p:txBody>
          <a:bodyPr wrap="square">
            <a:spAutoFit/>
          </a:bodyPr>
          <a:lstStyle/>
          <a:p>
            <a:pPr algn="l">
              <a:defRPr sz="3600" b="1">
                <a:solidFill>
                  <a:srgbClr val="FFFFFF"/>
                </a:solidFill>
                <a:latin typeface="Calibri"/>
              </a:defRPr>
            </a:pPr>
            <a:r>
              <a:t>Future Scope</a:t>
            </a:r>
          </a:p>
        </p:txBody>
      </p:sp>
      <p:sp>
        <p:nvSpPr>
          <p:cNvPr id="4" name="TextBox 3"/>
          <p:cNvSpPr txBox="1"/>
          <p:nvPr/>
        </p:nvSpPr>
        <p:spPr>
          <a:xfrm>
            <a:off x="731520" y="914400"/>
            <a:ext cx="9144000" cy="457200"/>
          </a:xfrm>
          <a:prstGeom prst="rect">
            <a:avLst/>
          </a:prstGeom>
          <a:noFill/>
        </p:spPr>
        <p:txBody>
          <a:bodyPr wrap="square">
            <a:spAutoFit/>
          </a:bodyPr>
          <a:lstStyle/>
          <a:p>
            <a:pPr algn="l">
              <a:defRPr sz="1500" b="0">
                <a:solidFill>
                  <a:srgbClr val="94A3B8"/>
                </a:solidFill>
                <a:latin typeface="Calibri"/>
              </a:defRPr>
            </a:pPr>
            <a:r>
              <a:t>What we would add in the production version with more time and resources</a:t>
            </a:r>
          </a:p>
        </p:txBody>
      </p:sp>
      <p:sp>
        <p:nvSpPr>
          <p:cNvPr id="5" name="Rounded Rectangle 4"/>
          <p:cNvSpPr/>
          <p:nvPr/>
        </p:nvSpPr>
        <p:spPr>
          <a:xfrm>
            <a:off x="731520" y="1463040"/>
            <a:ext cx="5394960" cy="155448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63040"/>
            <a:ext cx="64008" cy="1554480"/>
          </a:xfrm>
          <a:prstGeom prst="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72768"/>
            <a:ext cx="4846320" cy="274320"/>
          </a:xfrm>
          <a:prstGeom prst="rect">
            <a:avLst/>
          </a:prstGeom>
          <a:noFill/>
        </p:spPr>
        <p:txBody>
          <a:bodyPr wrap="square">
            <a:spAutoFit/>
          </a:bodyPr>
          <a:lstStyle/>
          <a:p>
            <a:pPr algn="l">
              <a:defRPr sz="1400" b="1">
                <a:solidFill>
                  <a:srgbClr val="00D261"/>
                </a:solidFill>
                <a:latin typeface="Calibri"/>
              </a:defRPr>
            </a:pPr>
            <a:r>
              <a:t>Real AI Model with TFLite</a:t>
            </a:r>
          </a:p>
        </p:txBody>
      </p:sp>
      <p:sp>
        <p:nvSpPr>
          <p:cNvPr id="8" name="TextBox 7"/>
          <p:cNvSpPr txBox="1"/>
          <p:nvPr/>
        </p:nvSpPr>
        <p:spPr>
          <a:xfrm>
            <a:off x="960120" y="1901952"/>
            <a:ext cx="4846320" cy="1051560"/>
          </a:xfrm>
          <a:prstGeom prst="rect">
            <a:avLst/>
          </a:prstGeom>
          <a:noFill/>
        </p:spPr>
        <p:txBody>
          <a:bodyPr wrap="square">
            <a:spAutoFit/>
          </a:bodyPr>
          <a:lstStyle/>
          <a:p>
            <a:pPr algn="l">
              <a:defRPr sz="900" b="0">
                <a:solidFill>
                  <a:srgbClr val="94A3B8"/>
                </a:solidFill>
                <a:latin typeface="Calibri"/>
              </a:defRPr>
            </a:pPr>
            <a:r>
              <a:t>Currently, the app uses keyword-based scoring (user tells the app what type of space it is). In production, we would train a MobileNetV2 CNN model on thousands of accessibility images using Google Colab. The model would be exported as a .tflite file and deployed on-device using the tflite_flutter package. The AI would automatically classify what it sees in the photo — no user input needed.</a:t>
            </a:r>
          </a:p>
        </p:txBody>
      </p:sp>
      <p:sp>
        <p:nvSpPr>
          <p:cNvPr id="9" name="Rounded Rectangle 8"/>
          <p:cNvSpPr/>
          <p:nvPr/>
        </p:nvSpPr>
        <p:spPr>
          <a:xfrm>
            <a:off x="6400800" y="1463040"/>
            <a:ext cx="5394960" cy="155448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63040"/>
            <a:ext cx="64008" cy="1554480"/>
          </a:xfrm>
          <a:prstGeom prst="rect">
            <a:avLst/>
          </a:prstGeom>
          <a:solidFill>
            <a:srgbClr val="4F7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9400" y="1572768"/>
            <a:ext cx="4846320" cy="274320"/>
          </a:xfrm>
          <a:prstGeom prst="rect">
            <a:avLst/>
          </a:prstGeom>
          <a:noFill/>
        </p:spPr>
        <p:txBody>
          <a:bodyPr wrap="square">
            <a:spAutoFit/>
          </a:bodyPr>
          <a:lstStyle/>
          <a:p>
            <a:pPr algn="l">
              <a:defRPr sz="1400" b="1">
                <a:solidFill>
                  <a:srgbClr val="4F7DF7"/>
                </a:solidFill>
                <a:latin typeface="Calibri"/>
              </a:defRPr>
            </a:pPr>
            <a:r>
              <a:t>Firebase Backend</a:t>
            </a:r>
          </a:p>
        </p:txBody>
      </p:sp>
      <p:sp>
        <p:nvSpPr>
          <p:cNvPr id="12" name="TextBox 11"/>
          <p:cNvSpPr txBox="1"/>
          <p:nvPr/>
        </p:nvSpPr>
        <p:spPr>
          <a:xfrm>
            <a:off x="6629400" y="1901952"/>
            <a:ext cx="4846320" cy="1051560"/>
          </a:xfrm>
          <a:prstGeom prst="rect">
            <a:avLst/>
          </a:prstGeom>
          <a:noFill/>
        </p:spPr>
        <p:txBody>
          <a:bodyPr wrap="square">
            <a:spAutoFit/>
          </a:bodyPr>
          <a:lstStyle/>
          <a:p>
            <a:pPr algn="l">
              <a:defRPr sz="900" b="0">
                <a:solidFill>
                  <a:srgbClr val="94A3B8"/>
                </a:solidFill>
                <a:latin typeface="Calibri"/>
              </a:defRPr>
            </a:pPr>
            <a:r>
              <a:t>Right now, all data is hardcoded (dummy stats, dummy feed). With Firebase, we would add: (1) Firebase Auth for user login with email/Google, (2) Cloud Firestore to store all audit data in the cloud, (3) Firebase Storage to save photos, (4) Real-time streams so the feed updates live when anyone posts a new audit.</a:t>
            </a:r>
          </a:p>
        </p:txBody>
      </p:sp>
      <p:sp>
        <p:nvSpPr>
          <p:cNvPr id="13" name="Rounded Rectangle 12"/>
          <p:cNvSpPr/>
          <p:nvPr/>
        </p:nvSpPr>
        <p:spPr>
          <a:xfrm>
            <a:off x="731520" y="3200400"/>
            <a:ext cx="5394960" cy="155448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3200400"/>
            <a:ext cx="64008" cy="155448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310128"/>
            <a:ext cx="4846320" cy="274320"/>
          </a:xfrm>
          <a:prstGeom prst="rect">
            <a:avLst/>
          </a:prstGeom>
          <a:noFill/>
        </p:spPr>
        <p:txBody>
          <a:bodyPr wrap="square">
            <a:spAutoFit/>
          </a:bodyPr>
          <a:lstStyle/>
          <a:p>
            <a:pPr algn="l">
              <a:defRPr sz="1400" b="1">
                <a:solidFill>
                  <a:srgbClr val="8B5CF6"/>
                </a:solidFill>
                <a:latin typeface="Calibri"/>
              </a:defRPr>
            </a:pPr>
            <a:r>
              <a:t>Google Maps Integration</a:t>
            </a:r>
          </a:p>
        </p:txBody>
      </p:sp>
      <p:sp>
        <p:nvSpPr>
          <p:cNvPr id="16" name="TextBox 15"/>
          <p:cNvSpPr txBox="1"/>
          <p:nvPr/>
        </p:nvSpPr>
        <p:spPr>
          <a:xfrm>
            <a:off x="960120" y="3639312"/>
            <a:ext cx="4846320" cy="1051560"/>
          </a:xfrm>
          <a:prstGeom prst="rect">
            <a:avLst/>
          </a:prstGeom>
          <a:noFill/>
        </p:spPr>
        <p:txBody>
          <a:bodyPr wrap="square">
            <a:spAutoFit/>
          </a:bodyPr>
          <a:lstStyle/>
          <a:p>
            <a:pPr algn="l">
              <a:defRPr sz="900" b="0">
                <a:solidFill>
                  <a:srgbClr val="94A3B8"/>
                </a:solidFill>
                <a:latin typeface="Calibri"/>
              </a:defRPr>
            </a:pPr>
            <a:r>
              <a:t>Replace our simulated map (drawn with CustomPainter) with the real Google Maps SDK. Show actual GPS coordinates, calculate distances, provide turn-by-turn accessible routes, and display real location names using geocoding. Requires a Google Maps API key.</a:t>
            </a:r>
          </a:p>
        </p:txBody>
      </p:sp>
      <p:sp>
        <p:nvSpPr>
          <p:cNvPr id="17" name="Rounded Rectangle 16"/>
          <p:cNvSpPr/>
          <p:nvPr/>
        </p:nvSpPr>
        <p:spPr>
          <a:xfrm>
            <a:off x="6400800" y="3200400"/>
            <a:ext cx="5394960" cy="155448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0" y="3200400"/>
            <a:ext cx="64008" cy="1554480"/>
          </a:xfrm>
          <a:prstGeom prst="rect">
            <a:avLst/>
          </a:prstGeom>
          <a:solidFill>
            <a:srgbClr val="FFB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29400" y="3310128"/>
            <a:ext cx="4846320" cy="274320"/>
          </a:xfrm>
          <a:prstGeom prst="rect">
            <a:avLst/>
          </a:prstGeom>
          <a:noFill/>
        </p:spPr>
        <p:txBody>
          <a:bodyPr wrap="square">
            <a:spAutoFit/>
          </a:bodyPr>
          <a:lstStyle/>
          <a:p>
            <a:pPr algn="l">
              <a:defRPr sz="1400" b="1">
                <a:solidFill>
                  <a:srgbClr val="FFB020"/>
                </a:solidFill>
                <a:latin typeface="Calibri"/>
              </a:defRPr>
            </a:pPr>
            <a:r>
              <a:t>PDF Report Export</a:t>
            </a:r>
          </a:p>
        </p:txBody>
      </p:sp>
      <p:sp>
        <p:nvSpPr>
          <p:cNvPr id="20" name="TextBox 19"/>
          <p:cNvSpPr txBox="1"/>
          <p:nvPr/>
        </p:nvSpPr>
        <p:spPr>
          <a:xfrm>
            <a:off x="6629400" y="3639312"/>
            <a:ext cx="4846320" cy="1051560"/>
          </a:xfrm>
          <a:prstGeom prst="rect">
            <a:avLst/>
          </a:prstGeom>
          <a:noFill/>
        </p:spPr>
        <p:txBody>
          <a:bodyPr wrap="square">
            <a:spAutoFit/>
          </a:bodyPr>
          <a:lstStyle/>
          <a:p>
            <a:pPr algn="l">
              <a:defRPr sz="900" b="0">
                <a:solidFill>
                  <a:srgbClr val="94A3B8"/>
                </a:solidFill>
                <a:latin typeface="Calibri"/>
              </a:defRPr>
            </a:pPr>
            <a:r>
              <a:t>Generate professional accessibility audit reports in PDF format using the Flutter 'pdf' package. Each report would include the scanned photo, location details, overall score, each issue with its rating, and all recommendations. Facility managers could use these reports to plan improvements.</a:t>
            </a:r>
          </a:p>
        </p:txBody>
      </p:sp>
      <p:sp>
        <p:nvSpPr>
          <p:cNvPr id="21" name="Rounded Rectangle 20"/>
          <p:cNvSpPr/>
          <p:nvPr/>
        </p:nvSpPr>
        <p:spPr>
          <a:xfrm>
            <a:off x="731520" y="4937760"/>
            <a:ext cx="5394960" cy="155448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4937760"/>
            <a:ext cx="64008" cy="155448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5047488"/>
            <a:ext cx="4846320" cy="274320"/>
          </a:xfrm>
          <a:prstGeom prst="rect">
            <a:avLst/>
          </a:prstGeom>
          <a:noFill/>
        </p:spPr>
        <p:txBody>
          <a:bodyPr wrap="square">
            <a:spAutoFit/>
          </a:bodyPr>
          <a:lstStyle/>
          <a:p>
            <a:pPr algn="l">
              <a:defRPr sz="1400" b="1">
                <a:solidFill>
                  <a:srgbClr val="EF4444"/>
                </a:solidFill>
                <a:latin typeface="Calibri"/>
              </a:defRPr>
            </a:pPr>
            <a:r>
              <a:t>Voice Input with speech_to_text</a:t>
            </a:r>
          </a:p>
        </p:txBody>
      </p:sp>
      <p:sp>
        <p:nvSpPr>
          <p:cNvPr id="24" name="TextBox 23"/>
          <p:cNvSpPr txBox="1"/>
          <p:nvPr/>
        </p:nvSpPr>
        <p:spPr>
          <a:xfrm>
            <a:off x="960120" y="5376672"/>
            <a:ext cx="4846320" cy="1051560"/>
          </a:xfrm>
          <a:prstGeom prst="rect">
            <a:avLst/>
          </a:prstGeom>
          <a:noFill/>
        </p:spPr>
        <p:txBody>
          <a:bodyPr wrap="square">
            <a:spAutoFit/>
          </a:bodyPr>
          <a:lstStyle/>
          <a:p>
            <a:pPr algn="l">
              <a:defRPr sz="900" b="0">
                <a:solidFill>
                  <a:srgbClr val="94A3B8"/>
                </a:solidFill>
                <a:latin typeface="Calibri"/>
              </a:defRPr>
            </a:pPr>
            <a:r>
              <a:t>Let users describe spaces using voice instead of typing. The Flutter speech_to_text package converts speech to text in real time. This makes the app more accessible for users who have difficulty typing, which aligns with our mission of accessibility for everyone.</a:t>
            </a:r>
          </a:p>
        </p:txBody>
      </p:sp>
      <p:sp>
        <p:nvSpPr>
          <p:cNvPr id="25" name="Rounded Rectangle 24"/>
          <p:cNvSpPr/>
          <p:nvPr/>
        </p:nvSpPr>
        <p:spPr>
          <a:xfrm>
            <a:off x="6400800" y="4937760"/>
            <a:ext cx="5394960" cy="155448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00800" y="4937760"/>
            <a:ext cx="64008" cy="155448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29400" y="5047488"/>
            <a:ext cx="4846320" cy="274320"/>
          </a:xfrm>
          <a:prstGeom prst="rect">
            <a:avLst/>
          </a:prstGeom>
          <a:noFill/>
        </p:spPr>
        <p:txBody>
          <a:bodyPr wrap="square">
            <a:spAutoFit/>
          </a:bodyPr>
          <a:lstStyle/>
          <a:p>
            <a:pPr algn="l">
              <a:defRPr sz="1400" b="1">
                <a:solidFill>
                  <a:srgbClr val="009688"/>
                </a:solidFill>
                <a:latin typeface="Calibri"/>
              </a:defRPr>
            </a:pPr>
            <a:r>
              <a:t>Multi-Language Support</a:t>
            </a:r>
          </a:p>
        </p:txBody>
      </p:sp>
      <p:sp>
        <p:nvSpPr>
          <p:cNvPr id="28" name="TextBox 27"/>
          <p:cNvSpPr txBox="1"/>
          <p:nvPr/>
        </p:nvSpPr>
        <p:spPr>
          <a:xfrm>
            <a:off x="6629400" y="5376672"/>
            <a:ext cx="4846320" cy="1051560"/>
          </a:xfrm>
          <a:prstGeom prst="rect">
            <a:avLst/>
          </a:prstGeom>
          <a:noFill/>
        </p:spPr>
        <p:txBody>
          <a:bodyPr wrap="square">
            <a:spAutoFit/>
          </a:bodyPr>
          <a:lstStyle/>
          <a:p>
            <a:pPr algn="l">
              <a:defRPr sz="900" b="0">
                <a:solidFill>
                  <a:srgbClr val="94A3B8"/>
                </a:solidFill>
                <a:latin typeface="Calibri"/>
              </a:defRPr>
            </a:pPr>
            <a:r>
              <a:t>Full translation into Hindi, Spanish, French, and Arabic using Flutter's internationalization (i18n) system. The language selector in Profile settings already exists — we just need to add translation files. This would make WheelScan a global accessibility tool.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F2E"/>
        </a:solidFill>
        <a:effectLst/>
      </p:bgPr>
    </p:bg>
    <p:spTree>
      <p:nvGrpSpPr>
        <p:cNvPr id="1" name=""/>
        <p:cNvGrpSpPr/>
        <p:nvPr/>
      </p:nvGrpSpPr>
      <p:grpSpPr/>
      <p:sp>
        <p:nvSpPr>
          <p:cNvPr id="2" name="Rounded Rectangle 1"/>
          <p:cNvSpPr/>
          <p:nvPr/>
        </p:nvSpPr>
        <p:spPr>
          <a:xfrm>
            <a:off x="-1828800" y="-1828800"/>
            <a:ext cx="5486400" cy="548640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0" y="3657600"/>
            <a:ext cx="4572000" cy="457200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108960"/>
            <a:ext cx="12191695" cy="54864"/>
          </a:xfrm>
          <a:prstGeom prst="rect">
            <a:avLst/>
          </a:prstGeom>
          <a:solidFill>
            <a:srgbClr val="00D2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1097280"/>
            <a:ext cx="12191695" cy="914400"/>
          </a:xfrm>
          <a:prstGeom prst="rect">
            <a:avLst/>
          </a:prstGeom>
          <a:noFill/>
        </p:spPr>
        <p:txBody>
          <a:bodyPr wrap="square">
            <a:spAutoFit/>
          </a:bodyPr>
          <a:lstStyle/>
          <a:p>
            <a:pPr algn="ctr">
              <a:defRPr sz="5600" b="1">
                <a:solidFill>
                  <a:srgbClr val="FFFFFF"/>
                </a:solidFill>
                <a:latin typeface="Calibri"/>
              </a:defRPr>
            </a:pPr>
            <a:r>
              <a:t>Thank You!</a:t>
            </a:r>
          </a:p>
        </p:txBody>
      </p:sp>
      <p:sp>
        <p:nvSpPr>
          <p:cNvPr id="6" name="TextBox 5"/>
          <p:cNvSpPr txBox="1"/>
          <p:nvPr/>
        </p:nvSpPr>
        <p:spPr>
          <a:xfrm>
            <a:off x="0" y="2103120"/>
            <a:ext cx="12191695" cy="457200"/>
          </a:xfrm>
          <a:prstGeom prst="rect">
            <a:avLst/>
          </a:prstGeom>
          <a:noFill/>
        </p:spPr>
        <p:txBody>
          <a:bodyPr wrap="square">
            <a:spAutoFit/>
          </a:bodyPr>
          <a:lstStyle/>
          <a:p>
            <a:pPr algn="ctr">
              <a:defRPr sz="2800" b="1">
                <a:solidFill>
                  <a:srgbClr val="00D261"/>
                </a:solidFill>
                <a:latin typeface="Calibri"/>
              </a:defRPr>
            </a:pPr>
            <a:r>
              <a:t>WheelScan</a:t>
            </a:r>
          </a:p>
        </p:txBody>
      </p:sp>
      <p:sp>
        <p:nvSpPr>
          <p:cNvPr id="7" name="TextBox 6"/>
          <p:cNvSpPr txBox="1"/>
          <p:nvPr/>
        </p:nvSpPr>
        <p:spPr>
          <a:xfrm>
            <a:off x="0" y="2560320"/>
            <a:ext cx="12191695" cy="457200"/>
          </a:xfrm>
          <a:prstGeom prst="rect">
            <a:avLst/>
          </a:prstGeom>
          <a:noFill/>
        </p:spPr>
        <p:txBody>
          <a:bodyPr wrap="square">
            <a:spAutoFit/>
          </a:bodyPr>
          <a:lstStyle/>
          <a:p>
            <a:pPr algn="ctr">
              <a:defRPr sz="1600" b="0">
                <a:solidFill>
                  <a:srgbClr val="94A3B8"/>
                </a:solidFill>
                <a:latin typeface="Calibri"/>
              </a:defRPr>
            </a:pPr>
            <a:r>
              <a:t>Making spaces accessible for everyone</a:t>
            </a:r>
          </a:p>
        </p:txBody>
      </p:sp>
      <p:sp>
        <p:nvSpPr>
          <p:cNvPr id="8" name="TextBox 7"/>
          <p:cNvSpPr txBox="1"/>
          <p:nvPr/>
        </p:nvSpPr>
        <p:spPr>
          <a:xfrm>
            <a:off x="0" y="3657600"/>
            <a:ext cx="12191695" cy="365760"/>
          </a:xfrm>
          <a:prstGeom prst="rect">
            <a:avLst/>
          </a:prstGeom>
          <a:noFill/>
        </p:spPr>
        <p:txBody>
          <a:bodyPr wrap="square">
            <a:spAutoFit/>
          </a:bodyPr>
          <a:lstStyle/>
          <a:p>
            <a:pPr algn="ctr">
              <a:defRPr sz="1800" b="0">
                <a:solidFill>
                  <a:srgbClr val="FFFFFF"/>
                </a:solidFill>
                <a:latin typeface="Calibri"/>
              </a:defRPr>
            </a:pPr>
            <a:r>
              <a:t>We would love to answer your questions!</a:t>
            </a:r>
          </a:p>
        </p:txBody>
      </p:sp>
      <p:sp>
        <p:nvSpPr>
          <p:cNvPr id="9" name="Rounded Rectangle 8"/>
          <p:cNvSpPr/>
          <p:nvPr/>
        </p:nvSpPr>
        <p:spPr>
          <a:xfrm>
            <a:off x="3200400" y="4572000"/>
            <a:ext cx="5760720" cy="1097280"/>
          </a:xfrm>
          <a:prstGeom prst="roundRect">
            <a:avLst/>
          </a:prstGeom>
          <a:solidFill>
            <a:srgbClr val="232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0" y="4709160"/>
            <a:ext cx="5760720" cy="365760"/>
          </a:xfrm>
          <a:prstGeom prst="rect">
            <a:avLst/>
          </a:prstGeom>
          <a:noFill/>
        </p:spPr>
        <p:txBody>
          <a:bodyPr wrap="square">
            <a:spAutoFit/>
          </a:bodyPr>
          <a:lstStyle/>
          <a:p>
            <a:pPr algn="ctr">
              <a:defRPr sz="1500" b="1">
                <a:solidFill>
                  <a:srgbClr val="00D261"/>
                </a:solidFill>
                <a:latin typeface="Calibri"/>
              </a:defRPr>
            </a:pPr>
            <a:r>
              <a:t>Team: Alvira Parveen &amp; Team Members</a:t>
            </a:r>
          </a:p>
        </p:txBody>
      </p:sp>
      <p:sp>
        <p:nvSpPr>
          <p:cNvPr id="11" name="TextBox 10"/>
          <p:cNvSpPr txBox="1"/>
          <p:nvPr/>
        </p:nvSpPr>
        <p:spPr>
          <a:xfrm>
            <a:off x="3200400" y="5074920"/>
            <a:ext cx="5760720" cy="274320"/>
          </a:xfrm>
          <a:prstGeom prst="rect">
            <a:avLst/>
          </a:prstGeom>
          <a:noFill/>
        </p:spPr>
        <p:txBody>
          <a:bodyPr wrap="square">
            <a:spAutoFit/>
          </a:bodyPr>
          <a:lstStyle/>
          <a:p>
            <a:pPr algn="ctr">
              <a:defRPr sz="1100" b="0">
                <a:solidFill>
                  <a:srgbClr val="94A3B8"/>
                </a:solidFill>
                <a:latin typeface="Calibri"/>
              </a:defRPr>
            </a:pPr>
            <a:r>
              <a:t>B.Tech CSE (AI/ML) | 4th Semester | Sharda University</a:t>
            </a:r>
          </a:p>
        </p:txBody>
      </p:sp>
      <p:sp>
        <p:nvSpPr>
          <p:cNvPr id="12" name="TextBox 11"/>
          <p:cNvSpPr txBox="1"/>
          <p:nvPr/>
        </p:nvSpPr>
        <p:spPr>
          <a:xfrm>
            <a:off x="3200400" y="5349240"/>
            <a:ext cx="5760720" cy="274320"/>
          </a:xfrm>
          <a:prstGeom prst="rect">
            <a:avLst/>
          </a:prstGeom>
          <a:noFill/>
        </p:spPr>
        <p:txBody>
          <a:bodyPr wrap="square">
            <a:spAutoFit/>
          </a:bodyPr>
          <a:lstStyle/>
          <a:p>
            <a:pPr algn="ctr">
              <a:defRPr sz="1000" b="0">
                <a:solidFill>
                  <a:srgbClr val="94A3B8"/>
                </a:solidFill>
                <a:latin typeface="Calibri"/>
              </a:defRPr>
            </a:pPr>
            <a:r>
              <a:t>Built with Flutter 3.38 &amp; Dart 3.10 | April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